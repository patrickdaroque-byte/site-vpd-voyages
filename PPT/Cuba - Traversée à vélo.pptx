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  <p:sldMasterId id="2147486765" r:id="rId6"/>
  </p:sldMasterIdLst>
  <p:notesMasterIdLst>
    <p:notesMasterId r:id="rId59"/>
  </p:notesMasterIdLst>
  <p:handoutMasterIdLst>
    <p:handoutMasterId r:id="rId60"/>
  </p:handoutMasterIdLst>
  <p:sldIdLst>
    <p:sldId id="543" r:id="rId7"/>
    <p:sldId id="269" r:id="rId8"/>
    <p:sldId id="275" r:id="rId9"/>
    <p:sldId id="414" r:id="rId10"/>
    <p:sldId id="271" r:id="rId11"/>
    <p:sldId id="273" r:id="rId12"/>
    <p:sldId id="274" r:id="rId13"/>
    <p:sldId id="354" r:id="rId14"/>
    <p:sldId id="446" r:id="rId15"/>
    <p:sldId id="445" r:id="rId16"/>
    <p:sldId id="444" r:id="rId17"/>
    <p:sldId id="413" r:id="rId18"/>
    <p:sldId id="443" r:id="rId19"/>
    <p:sldId id="388" r:id="rId20"/>
    <p:sldId id="338" r:id="rId21"/>
    <p:sldId id="416" r:id="rId22"/>
    <p:sldId id="285" r:id="rId23"/>
    <p:sldId id="448" r:id="rId24"/>
    <p:sldId id="442" r:id="rId25"/>
    <p:sldId id="303" r:id="rId26"/>
    <p:sldId id="447" r:id="rId27"/>
    <p:sldId id="429" r:id="rId28"/>
    <p:sldId id="431" r:id="rId29"/>
    <p:sldId id="433" r:id="rId30"/>
    <p:sldId id="435" r:id="rId31"/>
    <p:sldId id="436" r:id="rId32"/>
    <p:sldId id="437" r:id="rId33"/>
    <p:sldId id="438" r:id="rId34"/>
    <p:sldId id="417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9" r:id="rId43"/>
    <p:sldId id="310" r:id="rId44"/>
    <p:sldId id="311" r:id="rId45"/>
    <p:sldId id="355" r:id="rId46"/>
    <p:sldId id="356" r:id="rId47"/>
    <p:sldId id="347" r:id="rId48"/>
    <p:sldId id="315" r:id="rId49"/>
    <p:sldId id="341" r:id="rId50"/>
    <p:sldId id="412" r:id="rId51"/>
    <p:sldId id="390" r:id="rId52"/>
    <p:sldId id="391" r:id="rId53"/>
    <p:sldId id="321" r:id="rId54"/>
    <p:sldId id="324" r:id="rId55"/>
    <p:sldId id="325" r:id="rId56"/>
    <p:sldId id="360" r:id="rId57"/>
    <p:sldId id="327" r:id="rId58"/>
  </p:sldIdLst>
  <p:sldSz cx="5327650" cy="7559675"/>
  <p:notesSz cx="6888163" cy="100203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1pPr>
    <a:lvl2pPr marL="457200" algn="l" rtl="0" fontAlgn="base">
      <a:spcBef>
        <a:spcPct val="0"/>
      </a:spcBef>
      <a:spcAft>
        <a:spcPct val="0"/>
      </a:spcAft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2pPr>
    <a:lvl3pPr marL="914400" algn="l" rtl="0" fontAlgn="base">
      <a:spcBef>
        <a:spcPct val="0"/>
      </a:spcBef>
      <a:spcAft>
        <a:spcPct val="0"/>
      </a:spcAft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3pPr>
    <a:lvl4pPr marL="1371600" algn="l" rtl="0" fontAlgn="base">
      <a:spcBef>
        <a:spcPct val="0"/>
      </a:spcBef>
      <a:spcAft>
        <a:spcPct val="0"/>
      </a:spcAft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4pPr>
    <a:lvl5pPr marL="1828800" algn="l" rtl="0" fontAlgn="base">
      <a:spcBef>
        <a:spcPct val="0"/>
      </a:spcBef>
      <a:spcAft>
        <a:spcPct val="0"/>
      </a:spcAft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6pPr>
    <a:lvl7pPr marL="2743200" algn="l" defTabSz="457200" rtl="0" eaLnBrk="1" latinLnBrk="0" hangingPunct="1"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7pPr>
    <a:lvl8pPr marL="3200400" algn="l" defTabSz="457200" rtl="0" eaLnBrk="1" latinLnBrk="0" hangingPunct="1"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8pPr>
    <a:lvl9pPr marL="3657600" algn="l" defTabSz="457200" rtl="0" eaLnBrk="1" latinLnBrk="0" hangingPunct="1">
      <a:defRPr sz="4800" b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ahoma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16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99"/>
    <a:srgbClr val="FFFFCC"/>
    <a:srgbClr val="FF00FF"/>
    <a:srgbClr val="FF99FF"/>
    <a:srgbClr val="F9E1F6"/>
    <a:srgbClr val="E8F632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004" autoAdjust="0"/>
    <p:restoredTop sz="89758" autoAdjust="0"/>
  </p:normalViewPr>
  <p:slideViewPr>
    <p:cSldViewPr>
      <p:cViewPr varScale="1">
        <p:scale>
          <a:sx n="96" d="100"/>
          <a:sy n="96" d="100"/>
        </p:scale>
        <p:origin x="3966" y="78"/>
      </p:cViewPr>
      <p:guideLst>
        <p:guide orient="horz" pos="2381"/>
        <p:guide pos="1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12"/>
    </p:cViewPr>
  </p:sorterViewPr>
  <p:notesViewPr>
    <p:cSldViewPr snapToGrid="0">
      <p:cViewPr>
        <p:scale>
          <a:sx n="99" d="100"/>
          <a:sy n="99" d="100"/>
        </p:scale>
        <p:origin x="-2872" y="1528"/>
      </p:cViewPr>
      <p:guideLst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1.xml"/><Relationship Id="rId61" Type="http://schemas.openxmlformats.org/officeDocument/2006/relationships/presProps" Target="pres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5800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t" anchorCtr="0" compatLnSpc="1">
            <a:prstTxWarp prst="textNoShape">
              <a:avLst/>
            </a:prstTxWarp>
          </a:bodyPr>
          <a:lstStyle>
            <a:lvl1pPr defTabSz="947671">
              <a:defRPr sz="1200" b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t" anchorCtr="0" compatLnSpc="1">
            <a:prstTxWarp prst="textNoShape">
              <a:avLst/>
            </a:prstTxWarp>
          </a:bodyPr>
          <a:lstStyle>
            <a:lvl1pPr algn="r" defTabSz="947671">
              <a:defRPr sz="1200" b="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3433E1FE-4A38-A145-B9DA-8D8D1DFD3E56}" type="datetime1">
              <a:rPr lang="fr-FR"/>
              <a:pPr>
                <a:defRPr/>
              </a:pPr>
              <a:t>25/09/2025</a:t>
            </a:fld>
            <a:endParaRPr lang="en-GB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7202"/>
            <a:ext cx="2985800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b" anchorCtr="0" compatLnSpc="1">
            <a:prstTxWarp prst="textNoShape">
              <a:avLst/>
            </a:prstTxWarp>
          </a:bodyPr>
          <a:lstStyle>
            <a:lvl1pPr defTabSz="947671">
              <a:defRPr sz="1200" b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b" anchorCtr="0" compatLnSpc="1">
            <a:prstTxWarp prst="textNoShape">
              <a:avLst/>
            </a:prstTxWarp>
          </a:bodyPr>
          <a:lstStyle>
            <a:lvl1pPr algn="r" defTabSz="947671">
              <a:defRPr sz="1200" b="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4BE4D603-2AA7-B940-A461-1B4AEA4DB0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3527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5800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t" anchorCtr="0" compatLnSpc="1">
            <a:prstTxWarp prst="textNoShape">
              <a:avLst/>
            </a:prstTxWarp>
          </a:bodyPr>
          <a:lstStyle>
            <a:lvl1pPr defTabSz="947671">
              <a:defRPr sz="1200" b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t" anchorCtr="0" compatLnSpc="1">
            <a:prstTxWarp prst="textNoShape">
              <a:avLst/>
            </a:prstTxWarp>
          </a:bodyPr>
          <a:lstStyle>
            <a:lvl1pPr algn="r" defTabSz="947671">
              <a:defRPr sz="1200" b="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0594DD5A-AD30-DB4F-881A-1BC9CE64B29A}" type="datetime1">
              <a:rPr lang="fr-FR"/>
              <a:pPr>
                <a:defRPr/>
              </a:pPr>
              <a:t>25/09/2025</a:t>
            </a:fld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9313" y="750888"/>
            <a:ext cx="2649537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0293" y="4758602"/>
            <a:ext cx="5507578" cy="4510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Cliquez pour modifier les styles du texte du masque</a:t>
            </a:r>
          </a:p>
          <a:p>
            <a:pPr lvl="1"/>
            <a:r>
              <a:rPr lang="en-GB" noProof="0"/>
              <a:t>Deuxième niveau</a:t>
            </a:r>
          </a:p>
          <a:p>
            <a:pPr lvl="2"/>
            <a:r>
              <a:rPr lang="en-GB" noProof="0"/>
              <a:t>Troisième niveau</a:t>
            </a:r>
          </a:p>
          <a:p>
            <a:pPr lvl="3"/>
            <a:r>
              <a:rPr lang="en-GB" noProof="0"/>
              <a:t>Quatrième niveau</a:t>
            </a:r>
          </a:p>
          <a:p>
            <a:pPr lvl="4"/>
            <a:r>
              <a:rPr lang="en-GB" noProof="0"/>
              <a:t>Cinquième niveau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7202"/>
            <a:ext cx="2985800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b" anchorCtr="0" compatLnSpc="1">
            <a:prstTxWarp prst="textNoShape">
              <a:avLst/>
            </a:prstTxWarp>
          </a:bodyPr>
          <a:lstStyle>
            <a:lvl1pPr defTabSz="947671">
              <a:defRPr sz="1200" b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71" tIns="47386" rIns="94771" bIns="47386" numCol="1" anchor="b" anchorCtr="0" compatLnSpc="1">
            <a:prstTxWarp prst="textNoShape">
              <a:avLst/>
            </a:prstTxWarp>
          </a:bodyPr>
          <a:lstStyle>
            <a:lvl1pPr algn="r" defTabSz="947671">
              <a:defRPr sz="1200" b="0">
                <a:solidFill>
                  <a:schemeClr val="tx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E0684A54-38C4-3B4E-99BE-AEF148F9C4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64267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1F296C3-9C89-403C-A2E0-0E089217F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 defTabSz="9366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66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66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66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37D359-71BE-4806-A27F-DE90A69DB156}" type="slidenum">
              <a:rPr kumimoji="0" lang="en-GB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366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9BD3348-E0C5-44CE-9DFE-C0B06912B6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FA975A-4929-41B6-B689-B5C4F995C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0A86D64-A577-934E-B0B2-7F5B8DC722AF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2E72EAB-D0F6-524C-ABB1-A79C9859D2DA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A67BED9-30CB-F64D-BED2-F3B9737366E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6750B6E-75BA-EB49-99DD-B680AD466B38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3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defTabSz="942837"/>
            <a:fld id="{CC8A0424-A7E5-4003-B5C1-D31E44274A48}" type="datetime1">
              <a:rPr lang="fr-FR" smtClean="0">
                <a:ea typeface="MS PGothic" pitchFamily="34" charset="-128"/>
              </a:rPr>
              <a:pPr defTabSz="942837"/>
              <a:t>25/09/2025</a:t>
            </a:fld>
            <a:endParaRPr lang="en-GB" dirty="0">
              <a:ea typeface="MS PGothic" pitchFamily="34" charset="-128"/>
            </a:endParaRPr>
          </a:p>
        </p:txBody>
      </p:sp>
      <p:sp>
        <p:nvSpPr>
          <p:cNvPr id="1003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2837"/>
            <a:fld id="{45951097-8216-4FDC-8103-FE2A39E40D8B}" type="slidenum">
              <a:rPr lang="en-GB" smtClean="0">
                <a:latin typeface="Arial" charset="0"/>
              </a:rPr>
              <a:pPr defTabSz="942837"/>
              <a:t>4</a:t>
            </a:fld>
            <a:endParaRPr lang="en-GB" dirty="0">
              <a:latin typeface="Arial" charset="0"/>
            </a:endParaRPr>
          </a:p>
        </p:txBody>
      </p:sp>
      <p:sp>
        <p:nvSpPr>
          <p:cNvPr id="1003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03CD84F4-6680-6846-AC4D-B695EF30BECD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9ED99B6-ECB9-CD4D-97A5-9AEEEDA7714E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F5450D43-9EC2-BE48-A428-41314E4AC392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F40A751-AA33-C740-85F3-1F612559DB02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6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07F62A3-6C76-284C-8538-B6A27FC1DA56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64B77B4-E51D-A34E-A2E9-37D2FCAC54F2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7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D17332A-F3F3-AB4E-9BEF-774FEB01AED0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6DE232C8-7E25-744D-8C7E-6992626C99F3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8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dirty="0">
              <a:ea typeface="MS PGothic" charset="0"/>
              <a:sym typeface="Wingdings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56843" indent="-291094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64374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30124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95873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BF4F8F8-6701-9B4E-A8D7-02DA9572E9DE}" type="slidenum">
              <a:rPr lang="en-GB" sz="1200">
                <a:latin typeface="Arial" charset="0"/>
              </a:rPr>
              <a:pPr eaLnBrk="1" hangingPunct="1"/>
              <a:t>9</a:t>
            </a:fld>
            <a:endParaRPr lang="en-GB" sz="1200" dirty="0">
              <a:latin typeface="Arial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9452" y="4759643"/>
            <a:ext cx="5622051" cy="450913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fr-FR" dirty="0"/>
              <a:t> Superficie : 8</a:t>
            </a:r>
            <a:r>
              <a:rPr lang="fr-FR" baseline="30000" dirty="0"/>
              <a:t>ème</a:t>
            </a:r>
            <a:r>
              <a:rPr lang="fr-FR" dirty="0"/>
              <a:t> mondiale, 5 fois celle de la France</a:t>
            </a:r>
          </a:p>
          <a:p>
            <a:pPr eaLnBrk="1" hangingPunct="1">
              <a:buFontTx/>
              <a:buChar char="•"/>
            </a:pPr>
            <a:r>
              <a:rPr lang="fr-FR" dirty="0"/>
              <a:t> 3 694 km du N au S, 1 423 km d’E en O</a:t>
            </a:r>
          </a:p>
          <a:p>
            <a:pPr eaLnBrk="1" hangingPunct="1">
              <a:buFontTx/>
              <a:buChar char="•"/>
            </a:pPr>
            <a:r>
              <a:rPr lang="fr-FR" dirty="0"/>
              <a:t> Paraná </a:t>
            </a:r>
            <a:r>
              <a:rPr lang="fr-FR" dirty="0">
                <a:sym typeface="Wingdings" charset="0"/>
              </a:rPr>
              <a:t> 4 700 km </a:t>
            </a:r>
            <a:r>
              <a:rPr lang="fr-FR" dirty="0" err="1">
                <a:sym typeface="Wingdings" charset="0"/>
              </a:rPr>
              <a:t>yc</a:t>
            </a:r>
            <a:r>
              <a:rPr lang="fr-FR">
                <a:sym typeface="Wingdings" charset="0"/>
              </a:rPr>
              <a:t> estuaire de la Plata – Delta avance de 47 m / an</a:t>
            </a:r>
          </a:p>
          <a:p>
            <a:pPr eaLnBrk="1" hangingPunct="1">
              <a:buFontTx/>
              <a:buChar char="•"/>
            </a:pPr>
            <a:r>
              <a:rPr lang="fr-FR">
                <a:sym typeface="Wingdings" charset="0"/>
              </a:rPr>
              <a:t> La Pampa  est la région la plus peuplée d’Argentine : point culminant à 1 300 m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56843" indent="-291094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64374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30124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95873" indent="-232875" defTabSz="947671" eaLnBrk="0" hangingPunct="0"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BF4F8F8-6701-9B4E-A8D7-02DA9572E9DE}" type="slidenum">
              <a:rPr lang="en-GB" sz="1200">
                <a:latin typeface="Arial" charset="0"/>
              </a:rPr>
              <a:pPr eaLnBrk="1" hangingPunct="1"/>
              <a:t>10</a:t>
            </a:fld>
            <a:endParaRPr lang="en-GB" sz="1200" dirty="0">
              <a:latin typeface="Arial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9452" y="4759643"/>
            <a:ext cx="5622051" cy="450913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fr-FR" dirty="0"/>
              <a:t> Superficie : 8</a:t>
            </a:r>
            <a:r>
              <a:rPr lang="fr-FR" baseline="30000" dirty="0"/>
              <a:t>ème</a:t>
            </a:r>
            <a:r>
              <a:rPr lang="fr-FR" dirty="0"/>
              <a:t> mondiale, 5 fois celle de la France</a:t>
            </a:r>
          </a:p>
          <a:p>
            <a:pPr eaLnBrk="1" hangingPunct="1">
              <a:buFontTx/>
              <a:buChar char="•"/>
            </a:pPr>
            <a:r>
              <a:rPr lang="fr-FR" dirty="0"/>
              <a:t> 3 694 km du N au S, 1 423 km d’E en O</a:t>
            </a:r>
          </a:p>
          <a:p>
            <a:pPr eaLnBrk="1" hangingPunct="1">
              <a:buFontTx/>
              <a:buChar char="•"/>
            </a:pPr>
            <a:r>
              <a:rPr lang="fr-FR" dirty="0"/>
              <a:t> Paraná </a:t>
            </a:r>
            <a:r>
              <a:rPr lang="fr-FR" dirty="0">
                <a:sym typeface="Wingdings" charset="0"/>
              </a:rPr>
              <a:t> 4 700 km </a:t>
            </a:r>
            <a:r>
              <a:rPr lang="fr-FR" dirty="0" err="1">
                <a:sym typeface="Wingdings" charset="0"/>
              </a:rPr>
              <a:t>yc</a:t>
            </a:r>
            <a:r>
              <a:rPr lang="fr-FR">
                <a:sym typeface="Wingdings" charset="0"/>
              </a:rPr>
              <a:t> estuaire de la Plata – Delta avance de 47 m / an</a:t>
            </a:r>
          </a:p>
          <a:p>
            <a:pPr eaLnBrk="1" hangingPunct="1">
              <a:buFontTx/>
              <a:buChar char="•"/>
            </a:pPr>
            <a:r>
              <a:rPr lang="fr-FR">
                <a:sym typeface="Wingdings" charset="0"/>
              </a:rPr>
              <a:t> La Pampa  est la région la plus peuplée d’Argentine : point culminant à 1 300 m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 txBox="1">
            <a:spLocks noGrp="1" noChangeArrowheads="1"/>
          </p:cNvSpPr>
          <p:nvPr/>
        </p:nvSpPr>
        <p:spPr bwMode="auto">
          <a:xfrm>
            <a:off x="3902075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algn="r" defTabSz="933314">
              <a:defRPr/>
            </a:pPr>
            <a:fld id="{B36350C6-6B2C-4F9F-A718-0AA1E953922D}" type="datetime1">
              <a:rPr lang="fr-FR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25/09/2025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6499" name="Rectangle 7"/>
          <p:cNvSpPr txBox="1">
            <a:spLocks noGrp="1" noChangeArrowheads="1"/>
          </p:cNvSpPr>
          <p:nvPr/>
        </p:nvSpPr>
        <p:spPr bwMode="auto">
          <a:xfrm>
            <a:off x="3902075" y="9517063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 anchor="b"/>
          <a:lstStyle/>
          <a:p>
            <a:pPr algn="r" defTabSz="933314">
              <a:defRPr/>
            </a:pPr>
            <a:fld id="{55A419CC-C25D-413E-B788-3310A6E7939A}" type="slidenum">
              <a:rPr lang="en-GB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11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8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06501" name="Espace réservé des commentaires 5"/>
          <p:cNvSpPr>
            <a:spLocks noGrp="1"/>
          </p:cNvSpPr>
          <p:nvPr/>
        </p:nvSpPr>
        <p:spPr bwMode="auto">
          <a:xfrm>
            <a:off x="688976" y="4759326"/>
            <a:ext cx="5510213" cy="45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eaLnBrk="0" hangingPunct="0">
              <a:spcBef>
                <a:spcPct val="30000"/>
              </a:spcBef>
              <a:defRPr/>
            </a:pPr>
            <a:endParaRPr lang="fr-FR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 txBox="1">
            <a:spLocks noGrp="1" noChangeArrowheads="1"/>
          </p:cNvSpPr>
          <p:nvPr/>
        </p:nvSpPr>
        <p:spPr bwMode="auto">
          <a:xfrm>
            <a:off x="3902075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algn="r" defTabSz="933314">
              <a:defRPr/>
            </a:pPr>
            <a:fld id="{B36350C6-6B2C-4F9F-A718-0AA1E953922D}" type="datetime1">
              <a:rPr lang="fr-FR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25/09/2025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6499" name="Rectangle 7"/>
          <p:cNvSpPr txBox="1">
            <a:spLocks noGrp="1" noChangeArrowheads="1"/>
          </p:cNvSpPr>
          <p:nvPr/>
        </p:nvSpPr>
        <p:spPr bwMode="auto">
          <a:xfrm>
            <a:off x="3902075" y="9517063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 anchor="b"/>
          <a:lstStyle/>
          <a:p>
            <a:pPr algn="r" defTabSz="933314">
              <a:defRPr/>
            </a:pPr>
            <a:fld id="{55A419CC-C25D-413E-B788-3310A6E7939A}" type="slidenum">
              <a:rPr lang="en-GB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12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8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06501" name="Espace réservé des commentaires 5"/>
          <p:cNvSpPr>
            <a:spLocks noGrp="1"/>
          </p:cNvSpPr>
          <p:nvPr/>
        </p:nvSpPr>
        <p:spPr bwMode="auto">
          <a:xfrm>
            <a:off x="688976" y="4759326"/>
            <a:ext cx="5510213" cy="45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eaLnBrk="0" hangingPunct="0">
              <a:spcBef>
                <a:spcPct val="30000"/>
              </a:spcBef>
              <a:defRPr/>
            </a:pPr>
            <a:endParaRPr lang="fr-FR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 txBox="1">
            <a:spLocks noGrp="1" noChangeArrowheads="1"/>
          </p:cNvSpPr>
          <p:nvPr/>
        </p:nvSpPr>
        <p:spPr bwMode="auto">
          <a:xfrm>
            <a:off x="3902075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algn="r" defTabSz="933314">
              <a:defRPr/>
            </a:pPr>
            <a:fld id="{B36350C6-6B2C-4F9F-A718-0AA1E953922D}" type="datetime1">
              <a:rPr lang="fr-FR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25/09/2025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6499" name="Rectangle 7"/>
          <p:cNvSpPr txBox="1">
            <a:spLocks noGrp="1" noChangeArrowheads="1"/>
          </p:cNvSpPr>
          <p:nvPr/>
        </p:nvSpPr>
        <p:spPr bwMode="auto">
          <a:xfrm>
            <a:off x="3902075" y="9517063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 anchor="b"/>
          <a:lstStyle/>
          <a:p>
            <a:pPr algn="r" defTabSz="933314">
              <a:defRPr/>
            </a:pPr>
            <a:fld id="{55A419CC-C25D-413E-B788-3310A6E7939A}" type="slidenum">
              <a:rPr lang="en-GB" sz="1200"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Arial" pitchFamily="34" charset="0"/>
              </a:rPr>
              <a:pPr algn="r" defTabSz="933314">
                <a:defRPr/>
              </a:pPr>
              <a:t>13</a:t>
            </a:fld>
            <a:endParaRPr lang="en-GB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pitchFamily="34" charset="0"/>
            </a:endParaRPr>
          </a:p>
        </p:txBody>
      </p:sp>
      <p:sp>
        <p:nvSpPr>
          <p:cNvPr id="108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06501" name="Espace réservé des commentaires 5"/>
          <p:cNvSpPr>
            <a:spLocks noGrp="1"/>
          </p:cNvSpPr>
          <p:nvPr/>
        </p:nvSpPr>
        <p:spPr bwMode="auto">
          <a:xfrm>
            <a:off x="688976" y="4759326"/>
            <a:ext cx="5510213" cy="45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665" tIns="46833" rIns="93665" bIns="46833"/>
          <a:lstStyle/>
          <a:p>
            <a:pPr eaLnBrk="0" hangingPunct="0">
              <a:spcBef>
                <a:spcPct val="30000"/>
              </a:spcBef>
              <a:defRPr/>
            </a:pPr>
            <a:endParaRPr lang="fr-FR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770" tIns="47385" rIns="94770" bIns="47385"/>
          <a:lstStyle>
            <a:lvl1pPr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A14A7121-FC47-734A-B017-51B0B3D50823}" type="datetime1">
              <a:rPr lang="fr-FR" sz="1200" smtClean="0">
                <a:latin typeface="Arial" charset="0"/>
              </a:rPr>
              <a:pPr algn="r" eaLnBrk="1" hangingPunct="1">
                <a:defRPr/>
              </a:pPr>
              <a:t>25/09/2025</a:t>
            </a:fld>
            <a:endParaRPr lang="en-GB" sz="1200" dirty="0">
              <a:latin typeface="Arial" charset="0"/>
            </a:endParaRPr>
          </a:p>
        </p:txBody>
      </p:sp>
      <p:sp>
        <p:nvSpPr>
          <p:cNvPr id="106499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770" tIns="47385" rIns="94770" bIns="47385" anchor="b"/>
          <a:lstStyle>
            <a:lvl1pPr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28688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65E6EA7D-0A5B-684B-BADE-2A5EFA06B2A2}" type="slidenum">
              <a:rPr lang="en-GB" sz="1200" smtClean="0">
                <a:latin typeface="Arial" charset="0"/>
              </a:rPr>
              <a:pPr algn="r" eaLnBrk="1" hangingPunct="1">
                <a:defRPr/>
              </a:pPr>
              <a:t>14</a:t>
            </a:fld>
            <a:endParaRPr lang="en-GB" sz="1200" dirty="0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06501" name="Espace réservé des commentaires 5"/>
          <p:cNvSpPr>
            <a:spLocks noGrp="1"/>
          </p:cNvSpPr>
          <p:nvPr/>
        </p:nvSpPr>
        <p:spPr bwMode="auto">
          <a:xfrm>
            <a:off x="690293" y="4758602"/>
            <a:ext cx="5507578" cy="4510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770" tIns="47385" rIns="94770" bIns="47385"/>
          <a:lstStyle/>
          <a:p>
            <a:pPr eaLnBrk="0" hangingPunct="0">
              <a:spcBef>
                <a:spcPct val="30000"/>
              </a:spcBef>
              <a:defRPr/>
            </a:pPr>
            <a:endParaRPr lang="fr-FR" sz="1200" dirty="0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2572CF8-9647-534E-8542-8FF4295D40B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825BC34-CBAF-4043-A9A3-FBD6AC952D3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B762C5B-C3D9-6248-92B2-A652DC0D24F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A4BF6FD-4894-444C-AD55-7C332AA90D8A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16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z="800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840460C6-2E76-8149-BEA8-A1F017CEA4E1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44914F1-3398-1646-8C42-452BA062BA83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17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B762C5B-C3D9-6248-92B2-A652DC0D24F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A4BF6FD-4894-444C-AD55-7C332AA90D8A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18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z="800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B762C5B-C3D9-6248-92B2-A652DC0D24F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A4BF6FD-4894-444C-AD55-7C332AA90D8A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19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z="800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EA99D6A-8558-2147-B80C-E254568F4FC8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1E613A2-3889-C643-AF38-B0D06B74D5C7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20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4276" name="Espace réservé des commentaires 5"/>
          <p:cNvSpPr>
            <a:spLocks noGrp="1"/>
          </p:cNvSpPr>
          <p:nvPr/>
        </p:nvSpPr>
        <p:spPr bwMode="auto">
          <a:xfrm>
            <a:off x="690293" y="4758602"/>
            <a:ext cx="5507578" cy="451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/>
          <a:p>
            <a:pPr eaLnBrk="0" hangingPunct="0">
              <a:spcBef>
                <a:spcPct val="30000"/>
              </a:spcBef>
            </a:pPr>
            <a:endParaRPr lang="fr-FR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EA99D6A-8558-2147-B80C-E254568F4FC8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1E613A2-3889-C643-AF38-B0D06B74D5C7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21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4276" name="Espace réservé des commentaires 5"/>
          <p:cNvSpPr>
            <a:spLocks noGrp="1"/>
          </p:cNvSpPr>
          <p:nvPr/>
        </p:nvSpPr>
        <p:spPr bwMode="auto">
          <a:xfrm>
            <a:off x="690293" y="4758602"/>
            <a:ext cx="5507578" cy="451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/>
          <a:p>
            <a:pPr eaLnBrk="0" hangingPunct="0">
              <a:spcBef>
                <a:spcPct val="30000"/>
              </a:spcBef>
            </a:pPr>
            <a:endParaRPr lang="fr-FR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22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23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24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26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27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28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3"/>
          <p:cNvSpPr txBox="1">
            <a:spLocks noGrp="1" noChangeArrowheads="1"/>
          </p:cNvSpPr>
          <p:nvPr/>
        </p:nvSpPr>
        <p:spPr bwMode="auto">
          <a:xfrm>
            <a:off x="3900724" y="0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6FE8D89E-9699-A94D-A9C2-639469FBFD3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900724" y="9517202"/>
            <a:ext cx="2985799" cy="501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 anchor="b"/>
          <a:lstStyle>
            <a:lvl1pPr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defTabSz="930275" eaLnBrk="0" hangingPunct="0"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/>
            <a:fld id="{48885AA2-5EC8-3842-A28B-461D1A9D167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algn="r" eaLnBrk="1" hangingPunct="1"/>
              <a:t>29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600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7F9FB20-1160-1445-8190-61F2C472C19D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D0FFC43-45F0-A246-B862-E0932AD36EF6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30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6851AD7C-8EDC-1E47-9977-0D72B217D77F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D52DCEF-2075-C546-8DA3-98F372C339B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31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38244" name="Espace réservé des commentaires 5"/>
          <p:cNvSpPr>
            <a:spLocks noGrp="1"/>
          </p:cNvSpPr>
          <p:nvPr/>
        </p:nvSpPr>
        <p:spPr bwMode="auto">
          <a:xfrm>
            <a:off x="690293" y="4758602"/>
            <a:ext cx="5507578" cy="451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771" tIns="47386" rIns="94771" bIns="47386"/>
          <a:lstStyle/>
          <a:p>
            <a:pPr eaLnBrk="0" hangingPunct="0">
              <a:spcBef>
                <a:spcPct val="30000"/>
              </a:spcBef>
            </a:pPr>
            <a:endParaRPr lang="fr-FR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205BC42-B2F3-5942-8181-F584B71A28E4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5ACD55AB-1472-7948-898B-1B40A5B4DF4B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32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BDDDC646-4A8C-874B-9DC6-D6B5896B124D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E9423EBD-06EA-5345-A0C0-1780497602CE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33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36ACB91-02CC-EC4C-9E80-C4D8F1D2B9C3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C8B114B9-AE9B-DD40-A3F3-37D4EC22C625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34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946DCBC-9154-604B-B096-9E668B086B0A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0F95877-6F49-9F43-9F70-E408764AEFE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0D2FDB89-9FAA-AE47-BCC0-17489428463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8C8F41F8-7EE8-674E-BCF9-A0CDF37C7A16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36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>
                <a:ea typeface="MS PGothic" charset="0"/>
              </a:rPr>
              <a:t>.</a:t>
            </a:r>
          </a:p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0C9E1758-6152-DA4E-A94B-C8A84812FA81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6A314AF2-C1EB-5841-B603-49D6F5C7AB0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37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426" y="4672081"/>
            <a:ext cx="6012591" cy="5011752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100" dirty="0">
              <a:solidFill>
                <a:srgbClr val="006600"/>
              </a:solidFill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9EB3D40-6384-C14F-A8B2-83CF083F2EA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F8753CF-46D6-D942-BCC0-B25665EB60C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38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293" y="4758601"/>
            <a:ext cx="5507578" cy="463523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dirty="0">
              <a:ea typeface="MS PGothic" charset="0"/>
              <a:sym typeface="Wingdings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E99FE6AB-1DA2-7946-A4CD-B0B272E01C92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B6A6DC9-DD52-8540-BE69-3797DC0A6C56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39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293" y="4758601"/>
            <a:ext cx="5507578" cy="4906006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71FCDF2-9856-E342-BBDB-2C5F25DE6058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8FE68053-62F6-DF48-9442-3A89AE881684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40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endParaRPr lang="fr-FR" dirty="0">
              <a:ea typeface="MS PGothic" charset="0"/>
              <a:sym typeface="Wingdings" charset="0"/>
            </a:endParaRPr>
          </a:p>
          <a:p>
            <a:pPr eaLnBrk="1" hangingPunct="1">
              <a:buFontTx/>
              <a:buChar char="•"/>
            </a:pPr>
            <a:endParaRPr lang="fr-FR" dirty="0">
              <a:ea typeface="MS PGothic" charset="0"/>
              <a:sym typeface="Wingdings" charset="0"/>
            </a:endParaRPr>
          </a:p>
          <a:p>
            <a:pPr eaLnBrk="1" hangingPunct="1">
              <a:buFontTx/>
              <a:buChar char="•"/>
            </a:pPr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D88D6E3-FFC8-084A-AA19-6B36099E19C0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C11DA4D0-04CF-1947-A832-FCDBEE80749F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41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CA0C5EF-DDE6-1444-8F16-376298999DE8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D4B59E0-8416-AE4C-AB95-0F9F49E32F6B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42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en-GB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Endotelon</a:t>
            </a:r>
            <a:r>
              <a:rPr lang="en-GB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(circulation) &gt; </a:t>
            </a:r>
            <a:r>
              <a:rPr lang="en-GB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Moraima</a:t>
            </a:r>
            <a:r>
              <a:rPr lang="en-GB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et </a:t>
            </a:r>
            <a:r>
              <a:rPr lang="en-GB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Marlén</a:t>
            </a:r>
            <a:r>
              <a:rPr lang="en-GB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</a:t>
            </a: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Vitamines E </a:t>
            </a:r>
            <a:r>
              <a:rPr lang="en-GB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&gt; </a:t>
            </a:r>
            <a:r>
              <a:rPr lang="en-GB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Moraima</a:t>
            </a:r>
            <a:r>
              <a:rPr lang="en-GB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et </a:t>
            </a:r>
            <a:r>
              <a:rPr lang="en-GB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Marlén</a:t>
            </a:r>
            <a:endParaRPr lang="en-GB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Vitamines + Paracétamol &gt; </a:t>
            </a: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Mariela</a:t>
            </a:r>
            <a:endParaRPr lang="fr-FR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Voltaren</a:t>
            </a: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&gt; Miriam + </a:t>
            </a: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Benita</a:t>
            </a:r>
            <a:endParaRPr lang="fr-FR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Telmosatan</a:t>
            </a: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ou iso (pression) &gt; </a:t>
            </a: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Mariela</a:t>
            </a:r>
            <a:endParaRPr lang="fr-FR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Enalapryl</a:t>
            </a: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+ </a:t>
            </a: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Voltaren</a:t>
            </a: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&gt; Miriam</a:t>
            </a:r>
            <a:endParaRPr lang="en-GB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marL="931499" lvl="1" indent="-465750" eaLnBrk="1" fontAlgn="b" hangingPunct="1">
              <a:spcBef>
                <a:spcPct val="0"/>
              </a:spcBef>
              <a:buFontTx/>
              <a:buChar char="•"/>
            </a:pPr>
            <a:r>
              <a:rPr lang="fr-FR" dirty="0" err="1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Denoral</a:t>
            </a:r>
            <a:r>
              <a:rPr lang="fr-FR" dirty="0">
                <a:solidFill>
                  <a:srgbClr val="000000"/>
                </a:solidFill>
                <a:latin typeface="Tahoma" charset="0"/>
                <a:ea typeface="MS PGothic" charset="0"/>
                <a:cs typeface="MS PGothic" charset="0"/>
              </a:rPr>
              <a:t> (de jour) &gt; Sonia</a:t>
            </a:r>
            <a:endParaRPr lang="en-GB" dirty="0">
              <a:solidFill>
                <a:srgbClr val="000000"/>
              </a:solidFill>
              <a:latin typeface="Tahoma" charset="0"/>
              <a:ea typeface="MS PGothic" charset="0"/>
              <a:cs typeface="MS PGothic" charset="0"/>
            </a:endParaRPr>
          </a:p>
          <a:p>
            <a:pPr eaLnBrk="1" hangingPunct="1"/>
            <a:endParaRPr lang="fr-FR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E8BF8C76-1B5D-B148-8530-13F24E7983F2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4BEED9C-1D1C-F14F-B1EF-B908D16DFFE0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43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FD18B34-7D30-BB4C-AA4E-E01207A93355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B879DD6-1E81-C14A-873B-31C37F64CBD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44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z="1000" dirty="0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6012"/>
            <a:fld id="{94DB0EB7-EA98-47C3-A5ED-880469090576}" type="slidenum">
              <a:rPr lang="en-GB" smtClean="0">
                <a:latin typeface="Arial" charset="0"/>
              </a:rPr>
              <a:pPr defTabSz="946012"/>
              <a:t>45</a:t>
            </a:fld>
            <a:endParaRPr lang="en-GB" dirty="0">
              <a:latin typeface="Arial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6E1CD07-91E4-7B48-8723-D93EFB191D7D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C1C62315-1C21-0D4A-A568-D97F6AE2FF6D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46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CE55411-CD3B-B943-A5E1-E8DAB100E82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45E19E51-AEBC-CE4D-A275-6E4F34C2468A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47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0AC223E-9571-D54B-A392-80D327A560A7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B2D661F3-D733-E44F-A557-BB697A0D3E94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48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A081727-8B47-6C47-BE8D-65A66DE8C25B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8DB7B2F3-8F6B-FA40-84FA-197E4F569B91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49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7C083133-C3BB-254A-9AF9-8A4D970106B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5A7BD00B-3FD4-AC41-97D4-2DFD3E8A0CD2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50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6D2EB04A-C6D7-024C-B173-A983111F4A99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121CF2B-EB3B-EE43-9175-2A9A0F01503C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51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293" y="570392"/>
            <a:ext cx="5743687" cy="9169520"/>
          </a:xfrm>
          <a:solidFill>
            <a:srgbClr val="66FFFF"/>
          </a:solidFill>
          <a:ln>
            <a:solidFill>
              <a:srgbClr val="0033CC"/>
            </a:solidFill>
          </a:ln>
        </p:spPr>
        <p:txBody>
          <a:bodyPr/>
          <a:lstStyle/>
          <a:p>
            <a:pPr lvl="1" eaLnBrk="1" hangingPunct="1">
              <a:spcBef>
                <a:spcPct val="20000"/>
              </a:spcBef>
              <a:buFont typeface="Tahoma" charset="0"/>
              <a:buChar char="–"/>
            </a:pPr>
            <a:endParaRPr lang="fr-FR" sz="1600" dirty="0">
              <a:solidFill>
                <a:srgbClr val="000000"/>
              </a:solidFill>
              <a:ea typeface="MS PGothic" charset="0"/>
              <a:cs typeface="MS PGothic" charset="0"/>
              <a:sym typeface="Wingdings" charset="0"/>
            </a:endParaRPr>
          </a:p>
          <a:p>
            <a:pPr lvl="1" eaLnBrk="1" hangingPunct="1">
              <a:spcBef>
                <a:spcPct val="20000"/>
              </a:spcBef>
              <a:buFont typeface="Tahoma" charset="0"/>
              <a:buChar char="–"/>
            </a:pPr>
            <a:endParaRPr lang="fr-FR" sz="1400" dirty="0">
              <a:solidFill>
                <a:srgbClr val="000000"/>
              </a:solidFill>
              <a:sym typeface="Wingdings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42AC9B12-7C34-1741-ADED-BB852424C698}" type="datetime1">
              <a:rPr lang="fr-FR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25/09/2025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56843" indent="-291094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6437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30124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95873" indent="-232875" defTabSz="947671" eaLnBrk="0" hangingPunct="0"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6162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3027373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9312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958872" indent="-232875" defTabSz="947671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53008356-C64C-A843-85C6-E09143B79C72}" type="slidenum">
              <a:rPr lang="en-GB" sz="1200" b="0">
                <a:solidFill>
                  <a:schemeClr val="tx1"/>
                </a:solidFill>
                <a:effectLst/>
                <a:latin typeface="Arial" charset="0"/>
              </a:rPr>
              <a:pPr eaLnBrk="1" hangingPunct="1"/>
              <a:t>52</a:t>
            </a:fld>
            <a:endParaRPr lang="en-GB" sz="1200" b="0" dirty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9313" y="750888"/>
            <a:ext cx="2649537" cy="3757612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fr-FR">
              <a:ea typeface="MS PGothic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/>
          </p:cNvSpPr>
          <p:nvPr/>
        </p:nvSpPr>
        <p:spPr bwMode="auto">
          <a:xfrm>
            <a:off x="166489" y="3090367"/>
            <a:ext cx="925" cy="3345856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9525 h 1912"/>
              <a:gd name="T4" fmla="*/ 0 w 1588"/>
              <a:gd name="T5" fmla="*/ 9525 h 1912"/>
              <a:gd name="T6" fmla="*/ 0 w 1588"/>
              <a:gd name="T7" fmla="*/ 95250 h 1912"/>
              <a:gd name="T8" fmla="*/ 0 w 1588"/>
              <a:gd name="T9" fmla="*/ 3035300 h 1912"/>
              <a:gd name="T10" fmla="*/ 0 w 1588"/>
              <a:gd name="T11" fmla="*/ 3035300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/>
        </p:spPr>
        <p:txBody>
          <a:bodyPr/>
          <a:lstStyle/>
          <a:p>
            <a:pPr>
              <a:defRPr/>
            </a:pPr>
            <a:endParaRPr lang="fr-FR" sz="2796">
              <a:ea typeface="ＭＳ Ｐゴシック" charset="0"/>
              <a:cs typeface="ＭＳ Ｐゴシック" charset="0"/>
            </a:endParaRPr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99574" y="2201406"/>
            <a:ext cx="4528503" cy="1578432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GB"/>
              <a:t>Cliquez pour modifier le style du titre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99148" y="4283816"/>
            <a:ext cx="3729355" cy="193191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Cliquez pour modifier le style des sous-titres du masque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1820281" y="6884204"/>
            <a:ext cx="1687089" cy="524977"/>
          </a:xfrm>
        </p:spPr>
        <p:txBody>
          <a:bodyPr/>
          <a:lstStyle>
            <a:lvl1pPr>
              <a:defRPr sz="816" i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818149" y="6884204"/>
            <a:ext cx="1243118" cy="524977"/>
          </a:xfrm>
        </p:spPr>
        <p:txBody>
          <a:bodyPr/>
          <a:lstStyle>
            <a:lvl1pPr>
              <a:defRPr sz="816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1B06314E-2A4B-9347-AE1A-C45CDDE156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quarter" idx="12"/>
          </p:nvPr>
        </p:nvSpPr>
        <p:spPr bwMode="auto">
          <a:xfrm>
            <a:off x="266383" y="6884204"/>
            <a:ext cx="1243118" cy="52497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816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005921"/>
      </p:ext>
    </p:extLst>
  </p:cSld>
  <p:clrMapOvr>
    <a:masterClrMapping/>
  </p:clrMapOvr>
  <p:transition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CF464-06C4-4446-8143-1BDCFE7A2D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954588"/>
      </p:ext>
    </p:extLst>
  </p:cSld>
  <p:clrMapOvr>
    <a:masterClrMapping/>
  </p:clrMapOvr>
  <p:transition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0847" y="4857792"/>
            <a:ext cx="4528503" cy="1501435"/>
          </a:xfrm>
        </p:spPr>
        <p:txBody>
          <a:bodyPr anchor="t"/>
          <a:lstStyle>
            <a:lvl1pPr algn="l">
              <a:defRPr sz="233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0847" y="3204114"/>
            <a:ext cx="4528503" cy="1653678"/>
          </a:xfrm>
        </p:spPr>
        <p:txBody>
          <a:bodyPr anchor="b"/>
          <a:lstStyle>
            <a:lvl1pPr marL="0" indent="0">
              <a:buNone/>
              <a:defRPr sz="1165"/>
            </a:lvl1pPr>
            <a:lvl2pPr marL="266365" indent="0">
              <a:buNone/>
              <a:defRPr sz="1049"/>
            </a:lvl2pPr>
            <a:lvl3pPr marL="532729" indent="0">
              <a:buNone/>
              <a:defRPr sz="932"/>
            </a:lvl3pPr>
            <a:lvl4pPr marL="799094" indent="0">
              <a:buNone/>
              <a:defRPr sz="816"/>
            </a:lvl4pPr>
            <a:lvl5pPr marL="1065459" indent="0">
              <a:buNone/>
              <a:defRPr sz="816"/>
            </a:lvl5pPr>
            <a:lvl6pPr marL="1331824" indent="0">
              <a:buNone/>
              <a:defRPr sz="816"/>
            </a:lvl6pPr>
            <a:lvl7pPr marL="1598188" indent="0">
              <a:buNone/>
              <a:defRPr sz="816"/>
            </a:lvl7pPr>
            <a:lvl8pPr marL="1864553" indent="0">
              <a:buNone/>
              <a:defRPr sz="816"/>
            </a:lvl8pPr>
            <a:lvl9pPr marL="2130918" indent="0">
              <a:buNone/>
              <a:defRPr sz="81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0229E-692C-3A49-8CF3-560D40AB2F6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673617"/>
      </p:ext>
    </p:extLst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6383" y="2099910"/>
            <a:ext cx="2353045" cy="4535805"/>
          </a:xfrm>
        </p:spPr>
        <p:txBody>
          <a:bodyPr/>
          <a:lstStyle>
            <a:lvl1pPr>
              <a:defRPr sz="1631"/>
            </a:lvl1pPr>
            <a:lvl2pPr>
              <a:defRPr sz="1398"/>
            </a:lvl2pPr>
            <a:lvl3pPr>
              <a:defRPr sz="1165"/>
            </a:lvl3pPr>
            <a:lvl4pPr>
              <a:defRPr sz="1049"/>
            </a:lvl4pPr>
            <a:lvl5pPr>
              <a:defRPr sz="1049"/>
            </a:lvl5pPr>
            <a:lvl6pPr>
              <a:defRPr sz="1049"/>
            </a:lvl6pPr>
            <a:lvl7pPr>
              <a:defRPr sz="1049"/>
            </a:lvl7pPr>
            <a:lvl8pPr>
              <a:defRPr sz="1049"/>
            </a:lvl8pPr>
            <a:lvl9pPr>
              <a:defRPr sz="104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08222" y="2099910"/>
            <a:ext cx="2353045" cy="4535805"/>
          </a:xfrm>
        </p:spPr>
        <p:txBody>
          <a:bodyPr/>
          <a:lstStyle>
            <a:lvl1pPr>
              <a:defRPr sz="1631"/>
            </a:lvl1pPr>
            <a:lvl2pPr>
              <a:defRPr sz="1398"/>
            </a:lvl2pPr>
            <a:lvl3pPr>
              <a:defRPr sz="1165"/>
            </a:lvl3pPr>
            <a:lvl4pPr>
              <a:defRPr sz="1049"/>
            </a:lvl4pPr>
            <a:lvl5pPr>
              <a:defRPr sz="1049"/>
            </a:lvl5pPr>
            <a:lvl6pPr>
              <a:defRPr sz="1049"/>
            </a:lvl6pPr>
            <a:lvl7pPr>
              <a:defRPr sz="1049"/>
            </a:lvl7pPr>
            <a:lvl8pPr>
              <a:defRPr sz="1049"/>
            </a:lvl8pPr>
            <a:lvl9pPr>
              <a:defRPr sz="104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047DE-83AB-4B42-9974-ED4B3F9732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89134"/>
      </p:ext>
    </p:extLst>
  </p:cSld>
  <p:clrMapOvr>
    <a:masterClrMapping/>
  </p:clrMapOvr>
  <p:transition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02737"/>
            <a:ext cx="4794885" cy="1259946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66382" y="1692178"/>
            <a:ext cx="2353971" cy="705219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6382" y="2397397"/>
            <a:ext cx="2353971" cy="4355563"/>
          </a:xfrm>
        </p:spPr>
        <p:txBody>
          <a:bodyPr/>
          <a:lstStyle>
            <a:lvl1pPr>
              <a:defRPr sz="1398"/>
            </a:lvl1pPr>
            <a:lvl2pPr>
              <a:defRPr sz="1165"/>
            </a:lvl2pPr>
            <a:lvl3pPr>
              <a:defRPr sz="1049"/>
            </a:lvl3pPr>
            <a:lvl4pPr>
              <a:defRPr sz="932"/>
            </a:lvl4pPr>
            <a:lvl5pPr>
              <a:defRPr sz="932"/>
            </a:lvl5pPr>
            <a:lvl6pPr>
              <a:defRPr sz="932"/>
            </a:lvl6pPr>
            <a:lvl7pPr>
              <a:defRPr sz="932"/>
            </a:lvl7pPr>
            <a:lvl8pPr>
              <a:defRPr sz="932"/>
            </a:lvl8pPr>
            <a:lvl9pPr>
              <a:defRPr sz="9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06373" y="1692178"/>
            <a:ext cx="2354895" cy="705219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06373" y="2397397"/>
            <a:ext cx="2354895" cy="4355563"/>
          </a:xfrm>
        </p:spPr>
        <p:txBody>
          <a:bodyPr/>
          <a:lstStyle>
            <a:lvl1pPr>
              <a:defRPr sz="1398"/>
            </a:lvl1pPr>
            <a:lvl2pPr>
              <a:defRPr sz="1165"/>
            </a:lvl2pPr>
            <a:lvl3pPr>
              <a:defRPr sz="1049"/>
            </a:lvl3pPr>
            <a:lvl4pPr>
              <a:defRPr sz="932"/>
            </a:lvl4pPr>
            <a:lvl5pPr>
              <a:defRPr sz="932"/>
            </a:lvl5pPr>
            <a:lvl6pPr>
              <a:defRPr sz="932"/>
            </a:lvl6pPr>
            <a:lvl7pPr>
              <a:defRPr sz="932"/>
            </a:lvl7pPr>
            <a:lvl8pPr>
              <a:defRPr sz="932"/>
            </a:lvl8pPr>
            <a:lvl9pPr>
              <a:defRPr sz="9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F4AD-E26F-CB42-96E6-1F0CFDC440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26499"/>
      </p:ext>
    </p:extLst>
  </p:cSld>
  <p:clrMapOvr>
    <a:masterClrMapping/>
  </p:clrMapOvr>
  <p:transition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6DADA-21EA-844A-A791-A52ED38B446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81343"/>
      </p:ext>
    </p:extLst>
  </p:cSld>
  <p:clrMapOvr>
    <a:masterClrMapping/>
  </p:clrMapOvr>
  <p:transition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507CB-E50A-4643-9883-92D58153D2B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98670"/>
      </p:ext>
    </p:extLst>
  </p:cSld>
  <p:clrMapOvr>
    <a:masterClrMapping/>
  </p:clrMapOvr>
  <p:transition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00987"/>
            <a:ext cx="1752760" cy="1280945"/>
          </a:xfrm>
        </p:spPr>
        <p:txBody>
          <a:bodyPr anchor="b"/>
          <a:lstStyle>
            <a:lvl1pPr algn="l">
              <a:defRPr sz="1165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82963" y="300988"/>
            <a:ext cx="2978304" cy="6451973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66383" y="1581933"/>
            <a:ext cx="1752760" cy="5171028"/>
          </a:xfrm>
        </p:spPr>
        <p:txBody>
          <a:bodyPr/>
          <a:lstStyle>
            <a:lvl1pPr marL="0" indent="0">
              <a:buNone/>
              <a:defRPr sz="816"/>
            </a:lvl1pPr>
            <a:lvl2pPr marL="266365" indent="0">
              <a:buNone/>
              <a:defRPr sz="699"/>
            </a:lvl2pPr>
            <a:lvl3pPr marL="532729" indent="0">
              <a:buNone/>
              <a:defRPr sz="583"/>
            </a:lvl3pPr>
            <a:lvl4pPr marL="799094" indent="0">
              <a:buNone/>
              <a:defRPr sz="524"/>
            </a:lvl4pPr>
            <a:lvl5pPr marL="1065459" indent="0">
              <a:buNone/>
              <a:defRPr sz="524"/>
            </a:lvl5pPr>
            <a:lvl6pPr marL="1331824" indent="0">
              <a:buNone/>
              <a:defRPr sz="524"/>
            </a:lvl6pPr>
            <a:lvl7pPr marL="1598188" indent="0">
              <a:buNone/>
              <a:defRPr sz="524"/>
            </a:lvl7pPr>
            <a:lvl8pPr marL="1864553" indent="0">
              <a:buNone/>
              <a:defRPr sz="524"/>
            </a:lvl8pPr>
            <a:lvl9pPr marL="2130918" indent="0">
              <a:buNone/>
              <a:defRPr sz="52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F02F1-56C5-8D43-84D2-2FF2C80D2A1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789273"/>
      </p:ext>
    </p:extLst>
  </p:cSld>
  <p:clrMapOvr>
    <a:masterClrMapping/>
  </p:clrMapOvr>
  <p:transition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4257" y="5291772"/>
            <a:ext cx="3196590" cy="624724"/>
          </a:xfrm>
        </p:spPr>
        <p:txBody>
          <a:bodyPr anchor="b"/>
          <a:lstStyle>
            <a:lvl1pPr algn="l">
              <a:defRPr sz="1165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44257" y="675471"/>
            <a:ext cx="3196590" cy="4535805"/>
          </a:xfrm>
        </p:spPr>
        <p:txBody>
          <a:bodyPr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44257" y="5916496"/>
            <a:ext cx="3196590" cy="887211"/>
          </a:xfrm>
        </p:spPr>
        <p:txBody>
          <a:bodyPr/>
          <a:lstStyle>
            <a:lvl1pPr marL="0" indent="0">
              <a:buNone/>
              <a:defRPr sz="816"/>
            </a:lvl1pPr>
            <a:lvl2pPr marL="266365" indent="0">
              <a:buNone/>
              <a:defRPr sz="699"/>
            </a:lvl2pPr>
            <a:lvl3pPr marL="532729" indent="0">
              <a:buNone/>
              <a:defRPr sz="583"/>
            </a:lvl3pPr>
            <a:lvl4pPr marL="799094" indent="0">
              <a:buNone/>
              <a:defRPr sz="524"/>
            </a:lvl4pPr>
            <a:lvl5pPr marL="1065459" indent="0">
              <a:buNone/>
              <a:defRPr sz="524"/>
            </a:lvl5pPr>
            <a:lvl6pPr marL="1331824" indent="0">
              <a:buNone/>
              <a:defRPr sz="524"/>
            </a:lvl6pPr>
            <a:lvl7pPr marL="1598188" indent="0">
              <a:buNone/>
              <a:defRPr sz="524"/>
            </a:lvl7pPr>
            <a:lvl8pPr marL="1864553" indent="0">
              <a:buNone/>
              <a:defRPr sz="524"/>
            </a:lvl8pPr>
            <a:lvl9pPr marL="2130918" indent="0">
              <a:buNone/>
              <a:defRPr sz="52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B68CD-01B4-6641-9FC1-8F4BEA73B5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298132"/>
      </p:ext>
    </p:extLst>
  </p:cSld>
  <p:clrMapOvr>
    <a:masterClrMapping/>
  </p:clrMapOvr>
  <p:transition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E0279-D761-6349-8368-561AE1937D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962270"/>
      </p:ext>
    </p:extLst>
  </p:cSld>
  <p:clrMapOvr>
    <a:masterClrMapping/>
  </p:clrMapOvr>
  <p:transition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862546" y="321986"/>
            <a:ext cx="1198721" cy="6313729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66382" y="321986"/>
            <a:ext cx="3507370" cy="631372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A9516-C90D-5446-AD50-8B7F24D70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01480"/>
      </p:ext>
    </p:extLst>
  </p:cSld>
  <p:clrMapOvr>
    <a:masterClrMapping/>
  </p:clrMapOvr>
  <p:transition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21986"/>
            <a:ext cx="4794885" cy="559976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266383" y="2099910"/>
            <a:ext cx="4794885" cy="453580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23C5D-A9EF-4C4E-B823-A25C4ADF45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754901"/>
      </p:ext>
    </p:extLst>
  </p:cSld>
  <p:clrMapOvr>
    <a:masterClrMapping/>
  </p:clrMapOvr>
  <p:transition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sz="quarter"/>
          </p:nvPr>
        </p:nvSpPr>
        <p:spPr>
          <a:xfrm>
            <a:off x="266383" y="321986"/>
            <a:ext cx="4794885" cy="559976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6383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08222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266383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08222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4D84B-579B-9140-B602-C9BD1E0770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812422"/>
      </p:ext>
    </p:extLst>
  </p:cSld>
  <p:clrMapOvr>
    <a:masterClrMapping/>
  </p:clrMapOvr>
  <p:transition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21986"/>
            <a:ext cx="4794885" cy="559976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6383" y="2099910"/>
            <a:ext cx="2353045" cy="453580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08222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2708222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069E7-E1FE-F941-A712-EE78394D85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235433"/>
      </p:ext>
    </p:extLst>
  </p:cSld>
  <p:clrMapOvr>
    <a:masterClrMapping/>
  </p:clrMapOvr>
  <p:transition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01EA66C-0F25-4778-8EE0-F578BCDB89C7}"/>
              </a:ext>
            </a:extLst>
          </p:cNvPr>
          <p:cNvSpPr>
            <a:spLocks/>
          </p:cNvSpPr>
          <p:nvPr/>
        </p:nvSpPr>
        <p:spPr bwMode="auto">
          <a:xfrm>
            <a:off x="166688" y="3090863"/>
            <a:ext cx="0" cy="3344862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6 h 1912"/>
              <a:gd name="T4" fmla="*/ 0 w 1588"/>
              <a:gd name="T5" fmla="*/ 2147483646 h 1912"/>
              <a:gd name="T6" fmla="*/ 0 w 1588"/>
              <a:gd name="T7" fmla="*/ 2147483646 h 1912"/>
              <a:gd name="T8" fmla="*/ 0 w 1588"/>
              <a:gd name="T9" fmla="*/ 2147483646 h 1912"/>
              <a:gd name="T10" fmla="*/ 0 w 1588"/>
              <a:gd name="T11" fmla="*/ 2147483646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fr-FR" sz="2097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99574" y="2201406"/>
            <a:ext cx="4528503" cy="1578432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GB"/>
              <a:t>Cliquez pour modifier le style du titre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99148" y="4283816"/>
            <a:ext cx="3729355" cy="193191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Cliquez pour modifier le style des sous-titres du masque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23851D4-DF5B-4AB2-AF81-31842994CE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820863" y="6884988"/>
            <a:ext cx="1685925" cy="523875"/>
          </a:xfrm>
        </p:spPr>
        <p:txBody>
          <a:bodyPr/>
          <a:lstStyle>
            <a:lvl1pPr>
              <a:defRPr sz="816" i="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B56D6E64-EAEF-4DFF-998A-006B91B65B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817938" y="6884988"/>
            <a:ext cx="1243012" cy="523875"/>
          </a:xfrm>
        </p:spPr>
        <p:txBody>
          <a:bodyPr/>
          <a:lstStyle>
            <a:lvl1pPr>
              <a:defRPr sz="816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8DC8B2-F6B6-4D64-9A7A-43991050ADA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21BD0BF-5E97-46A3-9B30-45AD32B46DD9}"/>
              </a:ext>
            </a:extLst>
          </p:cNvPr>
          <p:cNvSpPr>
            <a:spLocks noGrp="1" noChangeArrowheads="1"/>
          </p:cNvSpPr>
          <p:nvPr>
            <p:ph type="dt" sz="quarter" idx="12"/>
          </p:nvPr>
        </p:nvSpPr>
        <p:spPr bwMode="auto">
          <a:xfrm>
            <a:off x="266700" y="6884988"/>
            <a:ext cx="1243013" cy="5238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816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833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D57DD60-1931-43F4-9075-6148BB980F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84EAFF6-24B7-4504-A2C4-B0D1E1C1B5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F0796-15FB-4A10-9434-ED4A801F3CF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343593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0847" y="4857792"/>
            <a:ext cx="4528503" cy="1501435"/>
          </a:xfrm>
        </p:spPr>
        <p:txBody>
          <a:bodyPr anchor="t"/>
          <a:lstStyle>
            <a:lvl1pPr algn="l">
              <a:defRPr sz="233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0847" y="3204114"/>
            <a:ext cx="4528503" cy="1653678"/>
          </a:xfrm>
        </p:spPr>
        <p:txBody>
          <a:bodyPr anchor="b"/>
          <a:lstStyle>
            <a:lvl1pPr marL="0" indent="0">
              <a:buNone/>
              <a:defRPr sz="1165"/>
            </a:lvl1pPr>
            <a:lvl2pPr marL="266365" indent="0">
              <a:buNone/>
              <a:defRPr sz="1049"/>
            </a:lvl2pPr>
            <a:lvl3pPr marL="532729" indent="0">
              <a:buNone/>
              <a:defRPr sz="932"/>
            </a:lvl3pPr>
            <a:lvl4pPr marL="799094" indent="0">
              <a:buNone/>
              <a:defRPr sz="816"/>
            </a:lvl4pPr>
            <a:lvl5pPr marL="1065459" indent="0">
              <a:buNone/>
              <a:defRPr sz="816"/>
            </a:lvl5pPr>
            <a:lvl6pPr marL="1331824" indent="0">
              <a:buNone/>
              <a:defRPr sz="816"/>
            </a:lvl6pPr>
            <a:lvl7pPr marL="1598188" indent="0">
              <a:buNone/>
              <a:defRPr sz="816"/>
            </a:lvl7pPr>
            <a:lvl8pPr marL="1864553" indent="0">
              <a:buNone/>
              <a:defRPr sz="816"/>
            </a:lvl8pPr>
            <a:lvl9pPr marL="2130918" indent="0">
              <a:buNone/>
              <a:defRPr sz="816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2CADAC5-DAB0-4DB3-B481-41C589109C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690B8A1-64DD-4AA6-9E3D-D6F929FA9B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9D3A5-6599-40C9-8C49-EEAF0CE072B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597153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6383" y="2099910"/>
            <a:ext cx="2353045" cy="4535805"/>
          </a:xfrm>
        </p:spPr>
        <p:txBody>
          <a:bodyPr/>
          <a:lstStyle>
            <a:lvl1pPr>
              <a:defRPr sz="1631"/>
            </a:lvl1pPr>
            <a:lvl2pPr>
              <a:defRPr sz="1398"/>
            </a:lvl2pPr>
            <a:lvl3pPr>
              <a:defRPr sz="1165"/>
            </a:lvl3pPr>
            <a:lvl4pPr>
              <a:defRPr sz="1049"/>
            </a:lvl4pPr>
            <a:lvl5pPr>
              <a:defRPr sz="1049"/>
            </a:lvl5pPr>
            <a:lvl6pPr>
              <a:defRPr sz="1049"/>
            </a:lvl6pPr>
            <a:lvl7pPr>
              <a:defRPr sz="1049"/>
            </a:lvl7pPr>
            <a:lvl8pPr>
              <a:defRPr sz="1049"/>
            </a:lvl8pPr>
            <a:lvl9pPr>
              <a:defRPr sz="104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08222" y="2099910"/>
            <a:ext cx="2353045" cy="4535805"/>
          </a:xfrm>
        </p:spPr>
        <p:txBody>
          <a:bodyPr/>
          <a:lstStyle>
            <a:lvl1pPr>
              <a:defRPr sz="1631"/>
            </a:lvl1pPr>
            <a:lvl2pPr>
              <a:defRPr sz="1398"/>
            </a:lvl2pPr>
            <a:lvl3pPr>
              <a:defRPr sz="1165"/>
            </a:lvl3pPr>
            <a:lvl4pPr>
              <a:defRPr sz="1049"/>
            </a:lvl4pPr>
            <a:lvl5pPr>
              <a:defRPr sz="1049"/>
            </a:lvl5pPr>
            <a:lvl6pPr>
              <a:defRPr sz="1049"/>
            </a:lvl6pPr>
            <a:lvl7pPr>
              <a:defRPr sz="1049"/>
            </a:lvl7pPr>
            <a:lvl8pPr>
              <a:defRPr sz="1049"/>
            </a:lvl8pPr>
            <a:lvl9pPr>
              <a:defRPr sz="104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B04E8A8-D51F-4A69-920D-D28200FAA7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A7A8576-729D-4C3E-B667-CB24B4C8C6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1AD90-C2F2-4000-BB8E-59965852B6B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10630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02737"/>
            <a:ext cx="4794885" cy="1259946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66382" y="1692178"/>
            <a:ext cx="2353971" cy="705219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6382" y="2397397"/>
            <a:ext cx="2353971" cy="4355563"/>
          </a:xfrm>
        </p:spPr>
        <p:txBody>
          <a:bodyPr/>
          <a:lstStyle>
            <a:lvl1pPr>
              <a:defRPr sz="1398"/>
            </a:lvl1pPr>
            <a:lvl2pPr>
              <a:defRPr sz="1165"/>
            </a:lvl2pPr>
            <a:lvl3pPr>
              <a:defRPr sz="1049"/>
            </a:lvl3pPr>
            <a:lvl4pPr>
              <a:defRPr sz="932"/>
            </a:lvl4pPr>
            <a:lvl5pPr>
              <a:defRPr sz="932"/>
            </a:lvl5pPr>
            <a:lvl6pPr>
              <a:defRPr sz="932"/>
            </a:lvl6pPr>
            <a:lvl7pPr>
              <a:defRPr sz="932"/>
            </a:lvl7pPr>
            <a:lvl8pPr>
              <a:defRPr sz="932"/>
            </a:lvl8pPr>
            <a:lvl9pPr>
              <a:defRPr sz="9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06373" y="1692178"/>
            <a:ext cx="2354895" cy="705219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06373" y="2397397"/>
            <a:ext cx="2354895" cy="4355563"/>
          </a:xfrm>
        </p:spPr>
        <p:txBody>
          <a:bodyPr/>
          <a:lstStyle>
            <a:lvl1pPr>
              <a:defRPr sz="1398"/>
            </a:lvl1pPr>
            <a:lvl2pPr>
              <a:defRPr sz="1165"/>
            </a:lvl2pPr>
            <a:lvl3pPr>
              <a:defRPr sz="1049"/>
            </a:lvl3pPr>
            <a:lvl4pPr>
              <a:defRPr sz="932"/>
            </a:lvl4pPr>
            <a:lvl5pPr>
              <a:defRPr sz="932"/>
            </a:lvl5pPr>
            <a:lvl6pPr>
              <a:defRPr sz="932"/>
            </a:lvl6pPr>
            <a:lvl7pPr>
              <a:defRPr sz="932"/>
            </a:lvl7pPr>
            <a:lvl8pPr>
              <a:defRPr sz="932"/>
            </a:lvl8pPr>
            <a:lvl9pPr>
              <a:defRPr sz="93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D926573-975C-4C69-A429-3EDD71B0ABA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9CB8A3F-0019-4CA7-869C-6E0311A43D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B67A4-EC95-40D7-B709-5C2950EEFB9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099593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0BF3A2C-2099-4B46-B856-942E8ACEB8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ED18B23-3D88-42C2-945C-276526FD3A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7E366-8020-46F5-B5EE-E5B189CA867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683193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8283A64-C261-4CB8-BE63-2F3F6B72ED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967BEC87-D72F-4311-8A74-C04711F659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7E2AA-C74B-47D7-9C27-B6BA2432F1E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52607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00987"/>
            <a:ext cx="1752760" cy="1280945"/>
          </a:xfrm>
        </p:spPr>
        <p:txBody>
          <a:bodyPr anchor="b"/>
          <a:lstStyle>
            <a:lvl1pPr algn="l">
              <a:defRPr sz="1165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82963" y="300988"/>
            <a:ext cx="2978304" cy="6451973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66383" y="1581933"/>
            <a:ext cx="1752760" cy="5171028"/>
          </a:xfrm>
        </p:spPr>
        <p:txBody>
          <a:bodyPr/>
          <a:lstStyle>
            <a:lvl1pPr marL="0" indent="0">
              <a:buNone/>
              <a:defRPr sz="816"/>
            </a:lvl1pPr>
            <a:lvl2pPr marL="266365" indent="0">
              <a:buNone/>
              <a:defRPr sz="699"/>
            </a:lvl2pPr>
            <a:lvl3pPr marL="532729" indent="0">
              <a:buNone/>
              <a:defRPr sz="583"/>
            </a:lvl3pPr>
            <a:lvl4pPr marL="799094" indent="0">
              <a:buNone/>
              <a:defRPr sz="524"/>
            </a:lvl4pPr>
            <a:lvl5pPr marL="1065459" indent="0">
              <a:buNone/>
              <a:defRPr sz="524"/>
            </a:lvl5pPr>
            <a:lvl6pPr marL="1331824" indent="0">
              <a:buNone/>
              <a:defRPr sz="524"/>
            </a:lvl6pPr>
            <a:lvl7pPr marL="1598188" indent="0">
              <a:buNone/>
              <a:defRPr sz="524"/>
            </a:lvl7pPr>
            <a:lvl8pPr marL="1864553" indent="0">
              <a:buNone/>
              <a:defRPr sz="524"/>
            </a:lvl8pPr>
            <a:lvl9pPr marL="2130918" indent="0">
              <a:buNone/>
              <a:defRPr sz="52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8535A31-BC75-4319-8B3C-79DEEEAA85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0C53DF8-D35D-45B4-B296-D75F0AFE95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FE61CA-7D49-48B8-BDD8-0499D64CB99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187767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4257" y="5291772"/>
            <a:ext cx="3196590" cy="624724"/>
          </a:xfrm>
        </p:spPr>
        <p:txBody>
          <a:bodyPr anchor="b"/>
          <a:lstStyle>
            <a:lvl1pPr algn="l">
              <a:defRPr sz="1165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44257" y="675471"/>
            <a:ext cx="3196590" cy="4535805"/>
          </a:xfrm>
        </p:spPr>
        <p:txBody>
          <a:bodyPr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44257" y="5916496"/>
            <a:ext cx="3196590" cy="887211"/>
          </a:xfrm>
        </p:spPr>
        <p:txBody>
          <a:bodyPr/>
          <a:lstStyle>
            <a:lvl1pPr marL="0" indent="0">
              <a:buNone/>
              <a:defRPr sz="816"/>
            </a:lvl1pPr>
            <a:lvl2pPr marL="266365" indent="0">
              <a:buNone/>
              <a:defRPr sz="699"/>
            </a:lvl2pPr>
            <a:lvl3pPr marL="532729" indent="0">
              <a:buNone/>
              <a:defRPr sz="583"/>
            </a:lvl3pPr>
            <a:lvl4pPr marL="799094" indent="0">
              <a:buNone/>
              <a:defRPr sz="524"/>
            </a:lvl4pPr>
            <a:lvl5pPr marL="1065459" indent="0">
              <a:buNone/>
              <a:defRPr sz="524"/>
            </a:lvl5pPr>
            <a:lvl6pPr marL="1331824" indent="0">
              <a:buNone/>
              <a:defRPr sz="524"/>
            </a:lvl6pPr>
            <a:lvl7pPr marL="1598188" indent="0">
              <a:buNone/>
              <a:defRPr sz="524"/>
            </a:lvl7pPr>
            <a:lvl8pPr marL="1864553" indent="0">
              <a:buNone/>
              <a:defRPr sz="524"/>
            </a:lvl8pPr>
            <a:lvl9pPr marL="2130918" indent="0">
              <a:buNone/>
              <a:defRPr sz="52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E321D06-3B22-4830-A7B3-4D55123EAE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1BDD1013-0102-4538-A5B1-164E2CE7F0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72258-83BB-4E68-B993-FA3C0184FBD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299196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D6B33CC-90A8-44DA-B73D-EB39066659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A32BF0A-05BB-434A-914F-528D8865ED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321CF-8811-4442-9BB5-5E2D5A82FA3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8597558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862546" y="321986"/>
            <a:ext cx="1198721" cy="6313729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66382" y="321986"/>
            <a:ext cx="3507370" cy="631372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10CDAE1-D88B-4D47-B0BA-91724853C55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96BA396-6B72-45B1-A341-FA0B1F91D5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6D2D2-ACF3-43C1-AF12-EAD9B26DD4A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734084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21986"/>
            <a:ext cx="4794885" cy="559976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266383" y="2099910"/>
            <a:ext cx="4794885" cy="453580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1A8EB15-5572-452B-BD32-80DEBD252F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D2EADE1-B762-42B3-823F-5B4DBD86E1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EB811-A590-4CAE-8B7B-0EF9D331FE7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126676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6383" y="321986"/>
            <a:ext cx="4794885" cy="559976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6383" y="2099910"/>
            <a:ext cx="2353045" cy="453580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08222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2708222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0124483-CDE1-4B1F-A198-71F9B56768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30CA67F-03D4-4CC4-97CB-97C3C564B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0CC79-95E2-4A62-B1D0-D4B60490039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506841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sz="quarter"/>
          </p:nvPr>
        </p:nvSpPr>
        <p:spPr>
          <a:xfrm>
            <a:off x="266383" y="321986"/>
            <a:ext cx="4794885" cy="559976"/>
          </a:xfrm>
        </p:spPr>
        <p:txBody>
          <a:bodyPr/>
          <a:lstStyle>
            <a:lvl1pPr>
              <a:defRPr lang="fr-FR" sz="1864" kern="1200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6383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08222" y="2099910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266383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08222" y="4451809"/>
            <a:ext cx="2353045" cy="21839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26DC29E-64AB-4F25-A733-F0F2D1A8AC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3494118-ED3D-4B43-BF36-187EAFB07A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3E91F-BDEA-4F25-8A6A-F3941E83FB3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70705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66383" y="321986"/>
            <a:ext cx="4794885" cy="55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Cliquez</a:t>
            </a:r>
            <a:r>
              <a:rPr lang="en-GB" dirty="0"/>
              <a:t> pour modifier le style du titre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6383" y="2099910"/>
            <a:ext cx="4794885" cy="453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modifier les styles du texte du masque</a:t>
            </a:r>
          </a:p>
          <a:p>
            <a:pPr lvl="1"/>
            <a:r>
              <a:rPr lang="en-GB"/>
              <a:t>Deuxième niveau</a:t>
            </a:r>
          </a:p>
          <a:p>
            <a:pPr lvl="2"/>
            <a:r>
              <a:rPr lang="en-GB"/>
              <a:t>Troisième niveau</a:t>
            </a:r>
          </a:p>
          <a:p>
            <a:pPr lvl="3"/>
            <a:r>
              <a:rPr lang="en-GB"/>
              <a:t>Quatrième niveau</a:t>
            </a:r>
          </a:p>
          <a:p>
            <a:pPr lvl="4"/>
            <a:r>
              <a:rPr lang="en-GB"/>
              <a:t>Cinquième niveau</a:t>
            </a:r>
          </a:p>
        </p:txBody>
      </p:sp>
      <p:sp>
        <p:nvSpPr>
          <p:cNvPr id="7680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7034698"/>
            <a:ext cx="1687089" cy="524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699" b="0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Cuba : 26 avril au 13 mai 2012</a:t>
            </a:r>
            <a:endParaRPr lang="en-GB"/>
          </a:p>
        </p:txBody>
      </p:sp>
      <p:sp>
        <p:nvSpPr>
          <p:cNvPr id="7680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84532" y="7034698"/>
            <a:ext cx="1243118" cy="524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defRPr>
            </a:lvl1pPr>
          </a:lstStyle>
          <a:p>
            <a:pPr>
              <a:defRPr/>
            </a:pPr>
            <a:fld id="{AAC9AAD0-B923-2449-96CD-2FE888D47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6764" r:id="rId1"/>
    <p:sldLayoutId id="2147486751" r:id="rId2"/>
    <p:sldLayoutId id="2147486752" r:id="rId3"/>
    <p:sldLayoutId id="2147486753" r:id="rId4"/>
    <p:sldLayoutId id="2147486754" r:id="rId5"/>
    <p:sldLayoutId id="2147486755" r:id="rId6"/>
    <p:sldLayoutId id="2147486756" r:id="rId7"/>
    <p:sldLayoutId id="2147486757" r:id="rId8"/>
    <p:sldLayoutId id="2147486758" r:id="rId9"/>
    <p:sldLayoutId id="2147486759" r:id="rId10"/>
    <p:sldLayoutId id="2147486760" r:id="rId11"/>
    <p:sldLayoutId id="2147486761" r:id="rId12"/>
    <p:sldLayoutId id="2147486762" r:id="rId13"/>
    <p:sldLayoutId id="2147486763" r:id="rId14"/>
  </p:sldLayoutIdLst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7680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/>
    </p:bldLst>
  </p:timing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631" i="1">
          <a:solidFill>
            <a:srgbClr val="0000CC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631" i="1">
          <a:solidFill>
            <a:srgbClr val="0000CC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631" i="1">
          <a:solidFill>
            <a:srgbClr val="0000CC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631" i="1">
          <a:solidFill>
            <a:srgbClr val="0000CC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631" i="1">
          <a:solidFill>
            <a:srgbClr val="0000CC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5pPr>
      <a:lvl6pPr marL="266365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6pPr>
      <a:lvl7pPr marL="532729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7pPr>
      <a:lvl8pPr marL="799094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8pPr>
      <a:lvl9pPr marL="1065459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9pPr>
    </p:titleStyle>
    <p:bodyStyle>
      <a:lvl1pPr marL="199774" indent="-19977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1864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itchFamily="34" charset="-128"/>
          <a:cs typeface="+mn-cs"/>
        </a:defRPr>
      </a:lvl1pPr>
      <a:lvl2pPr marL="432843" indent="-166478" algn="l" rtl="0" eaLnBrk="0" fontAlgn="base" hangingPunct="0">
        <a:spcBef>
          <a:spcPct val="20000"/>
        </a:spcBef>
        <a:spcAft>
          <a:spcPct val="0"/>
        </a:spcAft>
        <a:buFont typeface="Tahoma" charset="0"/>
        <a:buChar char="–"/>
        <a:defRPr sz="163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2pPr>
      <a:lvl3pPr marL="665912" indent="-133182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1398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3pPr>
      <a:lvl4pPr marL="932277" indent="-133182" algn="l" rtl="0" eaLnBrk="0" fontAlgn="base" hangingPunct="0">
        <a:spcBef>
          <a:spcPct val="20000"/>
        </a:spcBef>
        <a:spcAft>
          <a:spcPct val="0"/>
        </a:spcAft>
        <a:buFont typeface="Tahoma" charset="0"/>
        <a:buChar char="–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4pPr>
      <a:lvl5pPr marL="1198641" indent="-133182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charset="0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5pPr>
      <a:lvl6pPr marL="1465006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1731371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1997735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2264100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fr-FR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5">
            <a:extLst>
              <a:ext uri="{FF2B5EF4-FFF2-40B4-BE49-F238E27FC236}">
                <a16:creationId xmlns:a16="http://schemas.microsoft.com/office/drawing/2014/main" id="{1AD6816B-6395-42A3-8505-3BCD8BDC0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6700" y="322263"/>
            <a:ext cx="4794250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modifier le style du titre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2D818E34-45BA-4909-A889-834C4838A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2100263"/>
            <a:ext cx="4794250" cy="453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Cliquez pour modifier les styles du texte du masque</a:t>
            </a:r>
          </a:p>
          <a:p>
            <a:pPr lvl="1"/>
            <a:r>
              <a:rPr lang="en-GB"/>
              <a:t>Deuxième niveau</a:t>
            </a:r>
          </a:p>
          <a:p>
            <a:pPr lvl="2"/>
            <a:r>
              <a:rPr lang="en-GB"/>
              <a:t>Troisième niveau</a:t>
            </a:r>
          </a:p>
          <a:p>
            <a:pPr lvl="3"/>
            <a:r>
              <a:rPr lang="en-GB"/>
              <a:t>Quatrième niveau</a:t>
            </a:r>
          </a:p>
          <a:p>
            <a:pPr lvl="4"/>
            <a:r>
              <a:rPr lang="en-GB"/>
              <a:t>Cinquième niveau</a:t>
            </a:r>
          </a:p>
        </p:txBody>
      </p:sp>
      <p:sp>
        <p:nvSpPr>
          <p:cNvPr id="76808" name="Rectangle 8">
            <a:extLst>
              <a:ext uri="{FF2B5EF4-FFF2-40B4-BE49-F238E27FC236}">
                <a16:creationId xmlns:a16="http://schemas.microsoft.com/office/drawing/2014/main" id="{FD8ABB2D-CEFF-410C-AF51-3ECA2F549C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7034213"/>
            <a:ext cx="1687513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699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Argentine : 12 au 29 novembre 2014</a:t>
            </a:r>
            <a:endParaRPr lang="en-GB"/>
          </a:p>
        </p:txBody>
      </p:sp>
      <p:sp>
        <p:nvSpPr>
          <p:cNvPr id="76809" name="Rectangle 9">
            <a:extLst>
              <a:ext uri="{FF2B5EF4-FFF2-40B4-BE49-F238E27FC236}">
                <a16:creationId xmlns:a16="http://schemas.microsoft.com/office/drawing/2014/main" id="{851D978A-C544-4BA6-89D8-5920E632B1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84638" y="7034213"/>
            <a:ext cx="1243012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699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981BFFEC-CA9E-4CE0-B17B-AA6EFA14670A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7583111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6766" r:id="rId1"/>
    <p:sldLayoutId id="2147486767" r:id="rId2"/>
    <p:sldLayoutId id="2147486768" r:id="rId3"/>
    <p:sldLayoutId id="2147486769" r:id="rId4"/>
    <p:sldLayoutId id="2147486770" r:id="rId5"/>
    <p:sldLayoutId id="2147486771" r:id="rId6"/>
    <p:sldLayoutId id="2147486772" r:id="rId7"/>
    <p:sldLayoutId id="2147486773" r:id="rId8"/>
    <p:sldLayoutId id="2147486774" r:id="rId9"/>
    <p:sldLayoutId id="2147486775" r:id="rId10"/>
    <p:sldLayoutId id="2147486776" r:id="rId11"/>
    <p:sldLayoutId id="2147486777" r:id="rId12"/>
    <p:sldLayoutId id="2147486778" r:id="rId13"/>
    <p:sldLayoutId id="2147486779" r:id="rId14"/>
  </p:sldLayoutIdLst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ea typeface="MS PGothic" pitchFamily="34" charset="-128"/>
          <a:cs typeface="Arial" charset="0"/>
        </a:defRPr>
      </a:lvl5pPr>
      <a:lvl6pPr marL="266365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6pPr>
      <a:lvl7pPr marL="532729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7pPr>
      <a:lvl8pPr marL="799094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8pPr>
      <a:lvl9pPr marL="1065459" algn="r" rtl="0" fontAlgn="base">
        <a:spcBef>
          <a:spcPct val="0"/>
        </a:spcBef>
        <a:spcAft>
          <a:spcPct val="0"/>
        </a:spcAft>
        <a:defRPr sz="1864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itchFamily="34" charset="0"/>
          <a:cs typeface="Arial" charset="0"/>
        </a:defRPr>
      </a:lvl9pPr>
    </p:titleStyle>
    <p:bodyStyle>
      <a:lvl1pPr marL="198438" indent="-1984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itchFamily="34" charset="-128"/>
          <a:cs typeface="+mn-cs"/>
        </a:defRPr>
      </a:lvl1pPr>
      <a:lvl2pPr marL="431800" indent="-16510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2pPr>
      <a:lvl3pPr marL="665163" indent="-131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13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3pPr>
      <a:lvl4pPr marL="931863" indent="-131763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4pPr>
      <a:lvl5pPr marL="1198563" indent="-131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1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charset="0"/>
          <a:cs typeface="+mn-cs"/>
        </a:defRPr>
      </a:lvl5pPr>
      <a:lvl6pPr marL="1465006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1731371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1997735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2264100" indent="-133182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165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fr-FR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hyperlink" Target="https://www.bing.com/images/search?q=dessin+pic+du+midi+de+bigorre&amp;view=detailv2&amp;&amp;id=E700026B031376AA8E94C364EC0F8D9F0DE36994&amp;selectedIndex=591&amp;ccid=z93Ii09u&amp;simid=608034823321944715&amp;thid=OIP.Mcfddc88b4f6e7f3c31fd5224991f16f7o0" TargetMode="External"/><Relationship Id="rId7" Type="http://schemas.openxmlformats.org/officeDocument/2006/relationships/hyperlink" Target="https://www.bing.com/images/search?q=dessin+tgv&amp;view=detailv2&amp;&amp;id=1D9885B060135CCCA8076C55D4E7C7DF63B84E61&amp;selectedIndex=0&amp;ccid=HZIM/zDj&amp;simid=608048614458329342&amp;thid=OIP.M1d920cff30e3f99dbb7fb159c0bfea7ao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hyperlink" Target="https://www.bing.com/images/search?q=dessin+paris&amp;view=detailv2&amp;&amp;id=BF41D5D3FC740B441747970EEA35F833F8DC66E9&amp;selectedIndex=674&amp;ccid=YCMmNvfH&amp;simid=608022376511374493&amp;thid=OIP.M60232636f7c799b25c0de540f5ee507bH0" TargetMode="Externa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hyperlink" Target="http://fr.wikipedia.org/wiki/Fichier:Flag_of_France.sv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c.gob.cu/Espanol/tipo_cambio_METROPOLITANO.asp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jpe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hyperlink" Target="http://www.routard.com/guide/code_dest/cuba.htm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6.png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45.emf"/><Relationship Id="rId4" Type="http://schemas.openxmlformats.org/officeDocument/2006/relationships/oleObject" Target="../embeddings/oleObject2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hyperlink" Target="http://www.youtube.com/watch?feature=player_embedded&amp;v=aK2vU6jEJgU" TargetMode="Externa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1">
            <a:extLst>
              <a:ext uri="{FF2B5EF4-FFF2-40B4-BE49-F238E27FC236}">
                <a16:creationId xmlns:a16="http://schemas.microsoft.com/office/drawing/2014/main" id="{050277B2-B8E0-4DDA-A902-8778DAB9C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693738"/>
            <a:ext cx="3872011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t>Cuba à vélo</a:t>
            </a:r>
          </a:p>
          <a:p>
            <a:pPr lvl="0" algn="ctr" eaLnBrk="0" hangingPunct="0"/>
            <a:r>
              <a:rPr lang="fr-FR" altLang="fr-FR" sz="1400" b="0" i="1" dirty="0">
                <a:solidFill>
                  <a:srgbClr val="000000"/>
                </a:solidFill>
                <a:effectLst/>
                <a:cs typeface="Arial"/>
              </a:rPr>
              <a:t>L'aventure ultime de Santiago à La Havane</a:t>
            </a:r>
            <a:endParaRPr kumimoji="0" lang="fr-FR" altLang="fr-FR" sz="3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6147" name="AutoShape 14" descr="Résultat de recherche d'images pour &quot;drapeau colombie&quot;">
            <a:extLst>
              <a:ext uri="{FF2B5EF4-FFF2-40B4-BE49-F238E27FC236}">
                <a16:creationId xmlns:a16="http://schemas.microsoft.com/office/drawing/2014/main" id="{5753D96A-4934-4C67-96F6-59A852A88D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6525" y="1622425"/>
            <a:ext cx="177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20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148" name="AutoShape 16" descr="Résultat de recherche d'images pour &quot;drapeau colombie&quot;">
            <a:extLst>
              <a:ext uri="{FF2B5EF4-FFF2-40B4-BE49-F238E27FC236}">
                <a16:creationId xmlns:a16="http://schemas.microsoft.com/office/drawing/2014/main" id="{9AF9963B-8CB9-4B54-A1C7-A3BD3AAC1C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6525" y="1622425"/>
            <a:ext cx="177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209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3E38272-79E6-D341-9C4F-C3A65C436374}"/>
              </a:ext>
            </a:extLst>
          </p:cNvPr>
          <p:cNvSpPr txBox="1"/>
          <p:nvPr/>
        </p:nvSpPr>
        <p:spPr>
          <a:xfrm>
            <a:off x="808038" y="1800225"/>
            <a:ext cx="4121150" cy="50937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Embarquez pour une traversée de 22 jours qui vous mènera à travers le cœur de Cuba, des montagnes de la Sierra </a:t>
            </a:r>
            <a:r>
              <a:rPr lang="fr-FR" sz="1500" b="0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Maestra</a:t>
            </a: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aux rues colorées de La Havane, avec un détour possible par les </a:t>
            </a:r>
            <a:r>
              <a:rPr lang="fr-FR" sz="1500" b="0" i="1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mogotes</a:t>
            </a: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de </a:t>
            </a:r>
            <a:r>
              <a:rPr lang="fr-FR" sz="1500" b="0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Viñales</a:t>
            </a: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.</a:t>
            </a:r>
          </a:p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endParaRPr lang="fr-FR" sz="1500" b="0" dirty="0">
              <a:solidFill>
                <a:srgbClr val="DADADA">
                  <a:lumMod val="10000"/>
                </a:srgbClr>
              </a:solidFill>
              <a:effectLst/>
              <a:latin typeface="Arial" panose="020B0604020202020204" pitchFamily="34" charset="0"/>
              <a:ea typeface="MS PGothic" panose="020B0600070205080204" pitchFamily="34" charset="-128"/>
              <a:cs typeface="Arial"/>
            </a:endParaRPr>
          </a:p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Plus de 1000 kms de paysages pour cyclistes confirmés, passionnés de vélo, prêts à relever un défi exceptionnel. Entre montées exigeantes, routes ondulantes de la campagne cubaine et chaleur tropicale, chaque coup de pédale révèle la beauté brute et authentique de l'île « crocodile ».</a:t>
            </a:r>
          </a:p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endParaRPr lang="fr-FR" sz="1500" b="0" dirty="0">
              <a:solidFill>
                <a:srgbClr val="DADADA">
                  <a:lumMod val="10000"/>
                </a:srgbClr>
              </a:solidFill>
              <a:effectLst/>
              <a:latin typeface="Arial" panose="020B0604020202020204" pitchFamily="34" charset="0"/>
              <a:ea typeface="MS PGothic" panose="020B0600070205080204" pitchFamily="34" charset="-128"/>
              <a:cs typeface="Arial"/>
            </a:endParaRPr>
          </a:p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r>
              <a:rPr lang="fr-FR" sz="1500" b="0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Une immersion totale avec des rencontres authentiques, nuits chez l'habitant et découverte de la gastronomie locale et des traditions. Un défi physique qui devient une aventure humaine inoubliable.</a:t>
            </a:r>
          </a:p>
          <a:p>
            <a:pPr lvl="0" eaLnBrk="0" hangingPunct="0">
              <a:spcBef>
                <a:spcPts val="0"/>
              </a:spcBef>
              <a:spcAft>
                <a:spcPts val="175"/>
              </a:spcAft>
              <a:defRPr/>
            </a:pPr>
            <a:endParaRPr lang="fr-FR" sz="1500" b="0" dirty="0">
              <a:solidFill>
                <a:srgbClr val="DADADA">
                  <a:lumMod val="10000"/>
                </a:srgbClr>
              </a:solidFill>
              <a:effectLst/>
              <a:latin typeface="Arial" panose="020B0604020202020204" pitchFamily="34" charset="0"/>
              <a:ea typeface="MS PGothic" panose="020B0600070205080204" pitchFamily="34" charset="-128"/>
              <a:cs typeface="Arial"/>
            </a:endParaRPr>
          </a:p>
          <a:p>
            <a:pPr lvl="0" algn="ctr" eaLnBrk="0" hangingPunct="0">
              <a:spcBef>
                <a:spcPts val="0"/>
              </a:spcBef>
              <a:spcAft>
                <a:spcPts val="175"/>
              </a:spcAft>
              <a:defRPr/>
            </a:pPr>
            <a:r>
              <a:rPr lang="fr-FR" sz="1500" b="0" i="1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¡</a:t>
            </a:r>
            <a:r>
              <a:rPr lang="fr-FR" sz="1500" b="0" i="1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Vamos</a:t>
            </a:r>
            <a:r>
              <a:rPr lang="fr-FR" sz="1500" b="0" i="1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a </a:t>
            </a:r>
            <a:r>
              <a:rPr lang="fr-FR" sz="1500" b="0" i="1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pedalear</a:t>
            </a:r>
            <a:r>
              <a:rPr lang="fr-FR" sz="1500" b="0" i="1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</a:t>
            </a:r>
            <a:r>
              <a:rPr lang="fr-FR" sz="1500" b="0" i="1" dirty="0" err="1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por</a:t>
            </a:r>
            <a:r>
              <a:rPr lang="fr-FR" sz="1500" b="0" i="1" dirty="0">
                <a:solidFill>
                  <a:srgbClr val="DADADA">
                    <a:lumMod val="10000"/>
                  </a:srgbClr>
                </a:solidFill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Cuba!</a:t>
            </a:r>
            <a:endParaRPr kumimoji="0" lang="fr-FR" sz="1500" b="0" i="1" u="none" strike="noStrike" kern="1200" cap="none" spc="0" normalizeH="0" baseline="0" noProof="0" dirty="0">
              <a:ln>
                <a:noFill/>
              </a:ln>
              <a:solidFill>
                <a:srgbClr val="DADADA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7" name="Rectangle 13"/>
          <p:cNvSpPr>
            <a:spLocks noChangeArrowheads="1"/>
          </p:cNvSpPr>
          <p:nvPr/>
        </p:nvSpPr>
        <p:spPr bwMode="auto">
          <a:xfrm>
            <a:off x="507340" y="395461"/>
            <a:ext cx="3758953" cy="7017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fr-FR" sz="2100" i="1" dirty="0">
                <a:solidFill>
                  <a:srgbClr val="FF0000"/>
                </a:solidFill>
                <a:effectLst/>
              </a:rPr>
              <a:t>Cuba…</a:t>
            </a:r>
          </a:p>
          <a:p>
            <a:pPr>
              <a:defRPr/>
            </a:pPr>
            <a:r>
              <a:rPr lang="fr-FR" sz="1860" b="0" i="1" dirty="0">
                <a:solidFill>
                  <a:srgbClr val="000000"/>
                </a:solidFill>
                <a:effectLst/>
              </a:rPr>
              <a:t>                                 … à vélo !</a:t>
            </a:r>
          </a:p>
        </p:txBody>
      </p:sp>
      <p:sp>
        <p:nvSpPr>
          <p:cNvPr id="10" name="Ellipse 9"/>
          <p:cNvSpPr/>
          <p:nvPr/>
        </p:nvSpPr>
        <p:spPr>
          <a:xfrm>
            <a:off x="2951796" y="6443778"/>
            <a:ext cx="1938835" cy="602044"/>
          </a:xfrm>
          <a:prstGeom prst="ellipse">
            <a:avLst/>
          </a:prstGeom>
          <a:solidFill>
            <a:srgbClr val="FFCC99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1600" b="0" i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Janvier 2027</a:t>
            </a:r>
            <a:endParaRPr lang="fr-FR" sz="7200" b="0" dirty="0">
              <a:solidFill>
                <a:srgbClr val="000000"/>
              </a:solidFill>
            </a:endParaRPr>
          </a:p>
        </p:txBody>
      </p:sp>
      <p:pic>
        <p:nvPicPr>
          <p:cNvPr id="75778" name="Picture 2" descr="Padre Pico, Santiago de Cuba - Cub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2962" y="4131086"/>
            <a:ext cx="3239495" cy="204939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</p:pic>
      <p:pic>
        <p:nvPicPr>
          <p:cNvPr id="75782" name="Picture 6" descr="Pour voir ton coloriage en ligne ici, télécharge-le (cela prend 30 secondes)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3560" y="4237685"/>
            <a:ext cx="541093" cy="541093"/>
          </a:xfrm>
          <a:prstGeom prst="rect">
            <a:avLst/>
          </a:prstGeom>
          <a:noFill/>
        </p:spPr>
      </p:pic>
      <p:pic>
        <p:nvPicPr>
          <p:cNvPr id="75784" name="Picture 8" descr="SHIMANO Roue Arrière MT-68 Tubeless Centerlock Noir - ALLTRICK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4906" y="1562165"/>
            <a:ext cx="1415167" cy="1415167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320038" y="2061636"/>
            <a:ext cx="1706525" cy="522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932" i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Santiago de Cuba</a:t>
            </a:r>
          </a:p>
          <a:p>
            <a:pPr algn="ctr">
              <a:defRPr/>
            </a:pPr>
            <a:r>
              <a:rPr lang="fr-FR" sz="932" i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-</a:t>
            </a:r>
          </a:p>
          <a:p>
            <a:pPr algn="ctr">
              <a:defRPr/>
            </a:pPr>
            <a:r>
              <a:rPr lang="fr-FR" sz="932" i="1" dirty="0" err="1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Viñales</a:t>
            </a:r>
            <a:endParaRPr lang="fr-FR" sz="2796" dirty="0">
              <a:solidFill>
                <a:srgbClr val="CC3399"/>
              </a:solidFill>
            </a:endParaRPr>
          </a:p>
        </p:txBody>
      </p:sp>
      <p:pic>
        <p:nvPicPr>
          <p:cNvPr id="12" name="Picture 8" descr="SHIMANO Roue Arrière MT-68 Tubeless Centerlock Noir - ALLTRICKS"/>
          <p:cNvPicPr>
            <a:picLocks noChangeAspect="1" noChangeArrowheads="1"/>
          </p:cNvPicPr>
          <p:nvPr/>
        </p:nvPicPr>
        <p:blipFill>
          <a:blip r:embed="rId5">
            <a:lum bright="16000"/>
          </a:blip>
          <a:srcRect/>
          <a:stretch>
            <a:fillRect/>
          </a:stretch>
        </p:blipFill>
        <p:spPr bwMode="auto">
          <a:xfrm>
            <a:off x="507340" y="1562165"/>
            <a:ext cx="1415167" cy="1415167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361661" y="2061636"/>
            <a:ext cx="1706525" cy="666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932" i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Santiago de Cuba</a:t>
            </a:r>
          </a:p>
          <a:p>
            <a:pPr algn="ctr">
              <a:defRPr/>
            </a:pPr>
            <a:endParaRPr lang="fr-FR" sz="932" i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>
              <a:defRPr/>
            </a:pPr>
            <a:endParaRPr lang="fr-FR" sz="932" i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>
              <a:defRPr/>
            </a:pPr>
            <a:r>
              <a:rPr lang="fr-FR" sz="932" i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 Havane</a:t>
            </a:r>
            <a:endParaRPr lang="fr-FR" sz="2796" dirty="0"/>
          </a:p>
        </p:txBody>
      </p:sp>
      <p:pic>
        <p:nvPicPr>
          <p:cNvPr id="76802" name="Picture 2" descr="Résultat d’images pour photos la havan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13094" y="1379189"/>
            <a:ext cx="2839015" cy="185955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</p:pic>
      <p:pic>
        <p:nvPicPr>
          <p:cNvPr id="14" name="Picture 6" descr="Pour voir ton coloriage en ligne ici, télécharge-le (cela prend 30 secondes)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54654" y="4279308"/>
            <a:ext cx="541093" cy="541093"/>
          </a:xfrm>
          <a:prstGeom prst="rect">
            <a:avLst/>
          </a:prstGeom>
          <a:noFill/>
        </p:spPr>
      </p:pic>
      <p:pic>
        <p:nvPicPr>
          <p:cNvPr id="15" name="Picture 6" descr="Pour voir ton coloriage en ligne ici, télécharge-le (cela prend 30 secondes)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747" y="4320930"/>
            <a:ext cx="541093" cy="541093"/>
          </a:xfrm>
          <a:prstGeom prst="rect">
            <a:avLst/>
          </a:prstGeom>
          <a:noFill/>
        </p:spPr>
      </p:pic>
      <p:pic>
        <p:nvPicPr>
          <p:cNvPr id="16" name="Picture 6" descr="Pour voir ton coloriage en ligne ici, télécharge-le (cela prend 30 secondes)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20085" y="4404175"/>
            <a:ext cx="541093" cy="541093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CDD8C3A-24FD-42A8-860F-BDF60A3FA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9549" y="451560"/>
            <a:ext cx="542591" cy="542591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5" dur="20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4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3986F266-9DB6-BB4D-8456-2E94F818E0ED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3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6678" y="1952157"/>
            <a:ext cx="4872580" cy="401424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>
                <a:effectLst/>
                <a:latin typeface="Tahoma" charset="0"/>
                <a:ea typeface="MS PGothic" charset="0"/>
              </a:rPr>
              <a:t>Qui suis-je ? Le Concept du séjour</a:t>
            </a:r>
            <a:endParaRPr lang="en-GB">
              <a:effectLst/>
              <a:latin typeface="Tahoma" charset="0"/>
              <a:ea typeface="MS PGothic" charset="0"/>
            </a:endParaRP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267489" y="2419926"/>
            <a:ext cx="4805984" cy="3085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Patrick DAROQUE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Des dizaines de séjours à Cuba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Je ne suis pas TO : prépare, guide et accompagne !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Partager la passion d’un pays, de son peuple, de ses traditions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Un autre concept de voyage thématique :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2" fontAlgn="b">
              <a:buFont typeface="Wingdings" charset="0"/>
              <a:buChar char="Ø"/>
            </a:pPr>
            <a:r>
              <a:rPr lang="fr-FR" sz="1165" b="0" i="1" dirty="0">
                <a:solidFill>
                  <a:srgbClr val="000000"/>
                </a:solidFill>
                <a:effectLst/>
              </a:rPr>
              <a:t> découverte du pays à travers ses habitants, leurs modes de         vie, leurs coutumes, leur patrimoine, etc.</a:t>
            </a:r>
          </a:p>
          <a:p>
            <a:pPr lvl="1" fontAlgn="b">
              <a:buFontTx/>
              <a:buChar char="•"/>
            </a:pPr>
            <a:endParaRPr lang="fr-FR" sz="1165" b="0" i="1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Les participants « valident » le programme à l’unanimité !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32772" name="Picture 2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necteur droit 7"/>
          <p:cNvCxnSpPr/>
          <p:nvPr/>
        </p:nvCxnSpPr>
        <p:spPr>
          <a:xfrm rot="18949158">
            <a:off x="1283475" y="3265567"/>
            <a:ext cx="0" cy="373121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rot="18949158">
            <a:off x="1100055" y="3449912"/>
            <a:ext cx="377592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20480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784" y="1781968"/>
            <a:ext cx="4872580" cy="401424"/>
          </a:xfrm>
        </p:spPr>
        <p:txBody>
          <a:bodyPr/>
          <a:lstStyle/>
          <a:p>
            <a:pPr eaLnBrk="1" hangingPunct="1"/>
            <a:r>
              <a:rPr lang="fr-FR" dirty="0">
                <a:effectLst/>
              </a:rPr>
              <a:t>13</a:t>
            </a:r>
            <a:r>
              <a:rPr lang="fr-FR" baseline="30000" dirty="0">
                <a:effectLst/>
              </a:rPr>
              <a:t>ème</a:t>
            </a:r>
            <a:r>
              <a:rPr lang="fr-FR" dirty="0">
                <a:effectLst/>
              </a:rPr>
              <a:t> année !</a:t>
            </a:r>
            <a:endParaRPr lang="en-GB" dirty="0">
              <a:effectLst/>
            </a:endParaRPr>
          </a:p>
        </p:txBody>
      </p:sp>
      <p:grpSp>
        <p:nvGrpSpPr>
          <p:cNvPr id="2" name="Groupe 43"/>
          <p:cNvGrpSpPr>
            <a:grpSpLocks/>
          </p:cNvGrpSpPr>
          <p:nvPr/>
        </p:nvGrpSpPr>
        <p:grpSpPr bwMode="auto">
          <a:xfrm>
            <a:off x="332962" y="175644"/>
            <a:ext cx="4703094" cy="5992581"/>
            <a:chOff x="470900" y="-2639507"/>
            <a:chExt cx="7831547" cy="10285241"/>
          </a:xfrm>
        </p:grpSpPr>
        <p:grpSp>
          <p:nvGrpSpPr>
            <p:cNvPr id="3" name="Groupe 34"/>
            <p:cNvGrpSpPr>
              <a:grpSpLocks/>
            </p:cNvGrpSpPr>
            <p:nvPr/>
          </p:nvGrpSpPr>
          <p:grpSpPr bwMode="auto">
            <a:xfrm>
              <a:off x="748138" y="-2639507"/>
              <a:ext cx="6178400" cy="10285241"/>
              <a:chOff x="748138" y="-2639506"/>
              <a:chExt cx="6178400" cy="10285241"/>
            </a:xfrm>
          </p:grpSpPr>
          <p:grpSp>
            <p:nvGrpSpPr>
              <p:cNvPr id="4" name="Groupe 22"/>
              <p:cNvGrpSpPr>
                <a:grpSpLocks/>
              </p:cNvGrpSpPr>
              <p:nvPr/>
            </p:nvGrpSpPr>
            <p:grpSpPr bwMode="auto">
              <a:xfrm>
                <a:off x="748138" y="-2639506"/>
                <a:ext cx="6178400" cy="10285241"/>
                <a:chOff x="1527490" y="-2708175"/>
                <a:chExt cx="6177965" cy="10286269"/>
              </a:xfrm>
            </p:grpSpPr>
            <p:sp>
              <p:nvSpPr>
                <p:cNvPr id="22" name="Arc 21"/>
                <p:cNvSpPr/>
                <p:nvPr/>
              </p:nvSpPr>
              <p:spPr>
                <a:xfrm rot="7879103">
                  <a:off x="519530" y="392169"/>
                  <a:ext cx="10286269" cy="4085581"/>
                </a:xfrm>
                <a:prstGeom prst="arc">
                  <a:avLst>
                    <a:gd name="adj1" fmla="val 13588801"/>
                    <a:gd name="adj2" fmla="val 222744"/>
                  </a:avLst>
                </a:prstGeom>
                <a:ln w="152400">
                  <a:solidFill>
                    <a:srgbClr val="0033CC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fr-FR" sz="2796"/>
                </a:p>
              </p:txBody>
            </p:sp>
            <p:sp>
              <p:nvSpPr>
                <p:cNvPr id="11289" name="AutoShape 15"/>
                <p:cNvSpPr>
                  <a:spLocks noChangeArrowheads="1"/>
                </p:cNvSpPr>
                <p:nvPr/>
              </p:nvSpPr>
              <p:spPr bwMode="auto">
                <a:xfrm>
                  <a:off x="1527490" y="5264554"/>
                  <a:ext cx="927257" cy="933957"/>
                </a:xfrm>
                <a:prstGeom prst="irregularSeal1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fr-FR" sz="1165" dirty="0">
                      <a:solidFill>
                        <a:schemeClr val="hlink"/>
                      </a:solidFill>
                      <a:effectLst/>
                    </a:rPr>
                    <a:t>2005</a:t>
                  </a:r>
                  <a:endParaRPr lang="en-GB" sz="1165" dirty="0">
                    <a:solidFill>
                      <a:schemeClr val="hlink"/>
                    </a:solidFill>
                    <a:effectLst/>
                  </a:endParaRPr>
                </a:p>
              </p:txBody>
            </p:sp>
          </p:grpSp>
          <p:sp>
            <p:nvSpPr>
              <p:cNvPr id="11279" name="AutoShape 15"/>
              <p:cNvSpPr>
                <a:spLocks noChangeArrowheads="1"/>
              </p:cNvSpPr>
              <p:nvPr/>
            </p:nvSpPr>
            <p:spPr bwMode="auto">
              <a:xfrm>
                <a:off x="1369869" y="6135158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06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0" name="AutoShape 15"/>
              <p:cNvSpPr>
                <a:spLocks noChangeArrowheads="1"/>
              </p:cNvSpPr>
              <p:nvPr/>
            </p:nvSpPr>
            <p:spPr bwMode="auto">
              <a:xfrm>
                <a:off x="1998500" y="6254206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07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1" name="AutoShape 15"/>
              <p:cNvSpPr>
                <a:spLocks noChangeArrowheads="1"/>
              </p:cNvSpPr>
              <p:nvPr/>
            </p:nvSpPr>
            <p:spPr bwMode="auto">
              <a:xfrm>
                <a:off x="2669781" y="6138763"/>
                <a:ext cx="752168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08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2" name="AutoShape 15"/>
              <p:cNvSpPr>
                <a:spLocks noChangeArrowheads="1"/>
              </p:cNvSpPr>
              <p:nvPr/>
            </p:nvSpPr>
            <p:spPr bwMode="auto">
              <a:xfrm>
                <a:off x="3327918" y="5827552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09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3" name="AutoShape 15"/>
              <p:cNvSpPr>
                <a:spLocks noChangeArrowheads="1"/>
              </p:cNvSpPr>
              <p:nvPr/>
            </p:nvSpPr>
            <p:spPr bwMode="auto">
              <a:xfrm>
                <a:off x="3898825" y="5518182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10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4" name="AutoShape 15"/>
              <p:cNvSpPr>
                <a:spLocks noChangeArrowheads="1"/>
              </p:cNvSpPr>
              <p:nvPr/>
            </p:nvSpPr>
            <p:spPr bwMode="auto">
              <a:xfrm>
                <a:off x="4426438" y="5151093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11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5" name="AutoShape 15"/>
              <p:cNvSpPr>
                <a:spLocks noChangeArrowheads="1"/>
              </p:cNvSpPr>
              <p:nvPr/>
            </p:nvSpPr>
            <p:spPr bwMode="auto">
              <a:xfrm>
                <a:off x="4939618" y="4726280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12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6" name="AutoShape 15"/>
              <p:cNvSpPr>
                <a:spLocks noChangeArrowheads="1"/>
              </p:cNvSpPr>
              <p:nvPr/>
            </p:nvSpPr>
            <p:spPr bwMode="auto">
              <a:xfrm>
                <a:off x="5409506" y="4258177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13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sp>
            <p:nvSpPr>
              <p:cNvPr id="11287" name="AutoShape 15"/>
              <p:cNvSpPr>
                <a:spLocks noChangeArrowheads="1"/>
              </p:cNvSpPr>
              <p:nvPr/>
            </p:nvSpPr>
            <p:spPr bwMode="auto">
              <a:xfrm>
                <a:off x="5850531" y="3804503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14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5" name="Groupe 42"/>
            <p:cNvGrpSpPr>
              <a:grpSpLocks/>
            </p:cNvGrpSpPr>
            <p:nvPr/>
          </p:nvGrpSpPr>
          <p:grpSpPr bwMode="auto">
            <a:xfrm>
              <a:off x="470900" y="1689087"/>
              <a:ext cx="7831547" cy="4488183"/>
              <a:chOff x="470900" y="1689087"/>
              <a:chExt cx="7831547" cy="4488183"/>
            </a:xfrm>
          </p:grpSpPr>
          <p:sp>
            <p:nvSpPr>
              <p:cNvPr id="24" name="AutoShape 17"/>
              <p:cNvSpPr>
                <a:spLocks noChangeArrowheads="1"/>
              </p:cNvSpPr>
              <p:nvPr/>
            </p:nvSpPr>
            <p:spPr bwMode="auto">
              <a:xfrm>
                <a:off x="6916682" y="1689087"/>
                <a:ext cx="1385765" cy="1089025"/>
              </a:xfrm>
              <a:prstGeom prst="irregularSeal1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fr-FR" sz="1165" dirty="0">
                    <a:solidFill>
                      <a:srgbClr val="FF0000"/>
                    </a:solidFill>
                    <a:effectLst/>
                    <a:ea typeface="+mn-ea"/>
                  </a:rPr>
                  <a:t>2017</a:t>
                </a:r>
                <a:endParaRPr lang="en-GB" sz="1165" dirty="0">
                  <a:solidFill>
                    <a:srgbClr val="FF0000"/>
                  </a:solidFill>
                  <a:effectLst/>
                  <a:ea typeface="+mn-ea"/>
                </a:endParaRPr>
              </a:p>
            </p:txBody>
          </p:sp>
          <p:sp>
            <p:nvSpPr>
              <p:cNvPr id="11272" name="AutoShape 15"/>
              <p:cNvSpPr>
                <a:spLocks noChangeArrowheads="1"/>
              </p:cNvSpPr>
              <p:nvPr/>
            </p:nvSpPr>
            <p:spPr bwMode="auto">
              <a:xfrm>
                <a:off x="6262239" y="3356401"/>
                <a:ext cx="650506" cy="603794"/>
              </a:xfrm>
              <a:prstGeom prst="irregularSeal1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fr-FR" sz="699">
                    <a:solidFill>
                      <a:schemeClr val="hlink"/>
                    </a:solidFill>
                  </a:rPr>
                  <a:t>15</a:t>
                </a:r>
                <a:endParaRPr lang="en-GB" sz="699">
                  <a:solidFill>
                    <a:schemeClr val="hlink"/>
                  </a:solidFill>
                </a:endParaRPr>
              </a:p>
            </p:txBody>
          </p:sp>
          <p:pic>
            <p:nvPicPr>
              <p:cNvPr id="11273" name="Picture 2" descr="Flag of Argentina.sv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979782" y="5775881"/>
                <a:ext cx="642221" cy="4013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4" name="Picture 4" descr="Cuba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302614" y="4832359"/>
                <a:ext cx="636116" cy="3787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5" name="Picture 6" descr="Flag of Colombia.svg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5917900" y="1962299"/>
                <a:ext cx="645100" cy="3924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6" name="Picture 8" descr="Espagn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70900" y="4832359"/>
                <a:ext cx="638506" cy="380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11268" name="Rectangle 44"/>
          <p:cNvSpPr>
            <a:spLocks noChangeArrowheads="1"/>
          </p:cNvSpPr>
          <p:nvPr/>
        </p:nvSpPr>
        <p:spPr bwMode="auto">
          <a:xfrm>
            <a:off x="1109002" y="2540419"/>
            <a:ext cx="2663825" cy="145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2729" lvl="1" indent="-266365" fontAlgn="b">
              <a:lnSpc>
                <a:spcPct val="200000"/>
              </a:lnSpc>
              <a:buFont typeface="Wingdings" pitchFamily="2" charset="2"/>
              <a:buChar char="Ø"/>
            </a:pPr>
            <a:r>
              <a:rPr lang="fr-FR" sz="1165" i="1" dirty="0">
                <a:effectLst/>
              </a:rPr>
              <a:t>Espagne</a:t>
            </a:r>
            <a:endParaRPr lang="fr-FR" sz="1165" i="1" dirty="0">
              <a:solidFill>
                <a:srgbClr val="C00000"/>
              </a:solidFill>
              <a:effectLst/>
            </a:endParaRPr>
          </a:p>
          <a:p>
            <a:pPr marL="532729" lvl="1" indent="-266365" fontAlgn="b">
              <a:lnSpc>
                <a:spcPct val="200000"/>
              </a:lnSpc>
              <a:buFont typeface="Wingdings" pitchFamily="2" charset="2"/>
              <a:buChar char="Ø"/>
            </a:pPr>
            <a:r>
              <a:rPr lang="fr-FR" sz="1165" i="1" dirty="0">
                <a:effectLst/>
              </a:rPr>
              <a:t>Cuba</a:t>
            </a:r>
          </a:p>
          <a:p>
            <a:pPr marL="532729" lvl="1" indent="-266365" fontAlgn="b">
              <a:lnSpc>
                <a:spcPct val="200000"/>
              </a:lnSpc>
              <a:buFont typeface="Wingdings" pitchFamily="2" charset="2"/>
              <a:buChar char="Ø"/>
            </a:pPr>
            <a:r>
              <a:rPr lang="fr-FR" sz="1165" i="1" dirty="0">
                <a:effectLst/>
              </a:rPr>
              <a:t>Argentine</a:t>
            </a:r>
          </a:p>
          <a:p>
            <a:pPr marL="532729" lvl="1" indent="-266365" fontAlgn="b">
              <a:lnSpc>
                <a:spcPct val="200000"/>
              </a:lnSpc>
              <a:buFont typeface="Wingdings" pitchFamily="2" charset="2"/>
              <a:buChar char="Ø"/>
            </a:pPr>
            <a:r>
              <a:rPr lang="fr-FR" sz="1165" i="1" dirty="0">
                <a:effectLst/>
              </a:rPr>
              <a:t>Colombie</a:t>
            </a:r>
          </a:p>
        </p:txBody>
      </p:sp>
      <p:sp>
        <p:nvSpPr>
          <p:cNvPr id="26" name="AutoShape 15"/>
          <p:cNvSpPr>
            <a:spLocks noChangeArrowheads="1"/>
          </p:cNvSpPr>
          <p:nvPr/>
        </p:nvSpPr>
        <p:spPr bwMode="auto">
          <a:xfrm>
            <a:off x="4078992" y="3363611"/>
            <a:ext cx="379043" cy="351794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699" dirty="0">
                <a:solidFill>
                  <a:schemeClr val="hlink"/>
                </a:solidFill>
              </a:rPr>
              <a:t>16</a:t>
            </a:r>
            <a:endParaRPr lang="en-GB" sz="699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>
                <a:effectLst/>
                <a:latin typeface="Tahoma" charset="0"/>
                <a:ea typeface="MS PGothic" charset="0"/>
              </a:rPr>
              <a:t>Réunions d’information</a:t>
            </a:r>
            <a:endParaRPr lang="en-GB">
              <a:effectLst/>
              <a:latin typeface="Tahoma" charset="0"/>
              <a:ea typeface="MS PGothic" charset="0"/>
            </a:endParaRPr>
          </a:p>
        </p:txBody>
      </p:sp>
      <p:pic>
        <p:nvPicPr>
          <p:cNvPr id="26626" name="Picture 7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295056" y="2705058"/>
            <a:ext cx="4794885" cy="237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marL="110985" indent="-110985" fontAlgn="b"/>
            <a:r>
              <a:rPr lang="fr-FR" sz="1398" b="0" dirty="0">
                <a:solidFill>
                  <a:srgbClr val="000000"/>
                </a:solidFill>
                <a:effectLst/>
              </a:rPr>
              <a:t>2 réunions de préparation :</a:t>
            </a:r>
          </a:p>
          <a:p>
            <a:pPr marL="110985" indent="-110985" fontAlgn="b"/>
            <a:endParaRPr lang="fr-FR" sz="1398" b="0" dirty="0">
              <a:solidFill>
                <a:srgbClr val="000000"/>
              </a:solidFill>
              <a:effectLst/>
            </a:endParaRPr>
          </a:p>
          <a:p>
            <a:pPr marL="110985" indent="-110985" fontAlgn="b"/>
            <a:endParaRPr lang="fr-FR" sz="1049" dirty="0">
              <a:solidFill>
                <a:srgbClr val="000000"/>
              </a:solidFill>
              <a:effectLst/>
            </a:endParaRPr>
          </a:p>
          <a:p>
            <a:pPr marL="643715" lvl="2" indent="-110985" fontAlgn="b">
              <a:buFontTx/>
              <a:buChar char="•"/>
            </a:pPr>
            <a:r>
              <a:rPr lang="fr-FR" sz="932" i="1" dirty="0">
                <a:solidFill>
                  <a:srgbClr val="000000"/>
                </a:solidFill>
                <a:effectLst/>
              </a:rPr>
              <a:t>2 novembre 2015</a:t>
            </a:r>
          </a:p>
          <a:p>
            <a:pPr marL="910079" lvl="3" indent="-110985" fontAlgn="b">
              <a:buClr>
                <a:schemeClr val="bg1"/>
              </a:buClr>
            </a:pPr>
            <a:endParaRPr lang="fr-FR" sz="932" b="0" i="1" dirty="0">
              <a:solidFill>
                <a:srgbClr val="000000"/>
              </a:solidFill>
              <a:effectLst/>
            </a:endParaRPr>
          </a:p>
          <a:p>
            <a:pPr marL="910079" lvl="3" indent="-110985" fontAlgn="b">
              <a:buClr>
                <a:schemeClr val="bg1"/>
              </a:buClr>
            </a:pPr>
            <a:r>
              <a:rPr lang="fr-FR" sz="932" b="0" dirty="0">
                <a:solidFill>
                  <a:srgbClr val="000000"/>
                </a:solidFill>
                <a:effectLst/>
              </a:rPr>
              <a:t>Concept du séjour, vol, photocopie du passeport,</a:t>
            </a:r>
          </a:p>
          <a:p>
            <a:pPr marL="910079" lvl="3" indent="-110985" fontAlgn="b"/>
            <a:r>
              <a:rPr lang="fr-FR" sz="932" b="0" dirty="0">
                <a:solidFill>
                  <a:srgbClr val="000000"/>
                </a:solidFill>
                <a:effectLst/>
              </a:rPr>
              <a:t>présentation du programme, détail des étapes, jours de repos, …</a:t>
            </a:r>
          </a:p>
          <a:p>
            <a:pPr marL="643715" lvl="2" indent="-110985" fontAlgn="b">
              <a:buFontTx/>
              <a:buChar char="•"/>
            </a:pPr>
            <a:endParaRPr lang="fr-FR" sz="932" i="1" dirty="0">
              <a:solidFill>
                <a:srgbClr val="000000"/>
              </a:solidFill>
              <a:effectLst/>
            </a:endParaRPr>
          </a:p>
          <a:p>
            <a:pPr marL="910079" lvl="3" indent="-110985" fontAlgn="b"/>
            <a:endParaRPr lang="fr-FR" sz="932" i="1" dirty="0">
              <a:solidFill>
                <a:srgbClr val="A6A6A6"/>
              </a:solidFill>
              <a:effectLst/>
            </a:endParaRPr>
          </a:p>
          <a:p>
            <a:pPr marL="643715" lvl="2" indent="-110985" fontAlgn="b">
              <a:buFontTx/>
              <a:buChar char="•"/>
            </a:pPr>
            <a:endParaRPr lang="fr-FR" sz="816" i="1" dirty="0">
              <a:solidFill>
                <a:srgbClr val="000000"/>
              </a:solidFill>
              <a:effectLst/>
            </a:endParaRPr>
          </a:p>
          <a:p>
            <a:pPr marL="643715" lvl="2" indent="-110985" fontAlgn="b">
              <a:buFontTx/>
              <a:buChar char="•"/>
            </a:pPr>
            <a:r>
              <a:rPr lang="fr-FR" sz="932" i="1" dirty="0">
                <a:solidFill>
                  <a:srgbClr val="A6A6A6"/>
                </a:solidFill>
                <a:effectLst/>
              </a:rPr>
              <a:t>31 mars 2016</a:t>
            </a:r>
          </a:p>
          <a:p>
            <a:pPr marL="643715" lvl="2" indent="-110985" fontAlgn="b">
              <a:buFontTx/>
              <a:buChar char="•"/>
            </a:pPr>
            <a:endParaRPr lang="fr-FR" sz="932" i="1" dirty="0">
              <a:solidFill>
                <a:srgbClr val="A6A6A6"/>
              </a:solidFill>
              <a:effectLst/>
            </a:endParaRPr>
          </a:p>
          <a:p>
            <a:pPr marL="910079" lvl="3" indent="-110985" fontAlgn="b">
              <a:buClr>
                <a:schemeClr val="bg1"/>
              </a:buClr>
            </a:pPr>
            <a:r>
              <a:rPr lang="fr-FR" sz="932" b="0" dirty="0">
                <a:solidFill>
                  <a:srgbClr val="A6A6A6"/>
                </a:solidFill>
                <a:effectLst/>
              </a:rPr>
              <a:t>Derniers détails, versement solde</a:t>
            </a:r>
          </a:p>
          <a:p>
            <a:pPr marL="910079" lvl="3" indent="-110985" fontAlgn="b">
              <a:buClr>
                <a:schemeClr val="bg1"/>
              </a:buClr>
            </a:pPr>
            <a:endParaRPr lang="fr-FR" sz="932" b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4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F6B13185-A8F9-6842-9372-452D424F059F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6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5070" y="1952157"/>
            <a:ext cx="4760663" cy="401424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dirty="0">
                <a:effectLst/>
                <a:latin typeface="Tahoma" charset="0"/>
                <a:ea typeface="MS PGothic" charset="0"/>
              </a:rPr>
              <a:t>Réunion du 2 novembre 2015</a:t>
            </a:r>
            <a:endParaRPr lang="en-GB" dirty="0">
              <a:effectLst/>
              <a:latin typeface="Tahoma" charset="0"/>
              <a:ea typeface="MS PGothic" charset="0"/>
            </a:endParaRPr>
          </a:p>
        </p:txBody>
      </p:sp>
      <p:sp>
        <p:nvSpPr>
          <p:cNvPr id="28675" name="Rectangle 6"/>
          <p:cNvSpPr>
            <a:spLocks noChangeArrowheads="1"/>
          </p:cNvSpPr>
          <p:nvPr/>
        </p:nvSpPr>
        <p:spPr bwMode="auto">
          <a:xfrm>
            <a:off x="226610" y="2426652"/>
            <a:ext cx="4794885" cy="323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 Concept du séjour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 Présentation du programme</a:t>
            </a:r>
            <a:endParaRPr lang="fr-FR" sz="1165" b="0" i="1" dirty="0">
              <a:solidFill>
                <a:srgbClr val="CC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i="1" dirty="0">
              <a:solidFill>
                <a:srgbClr val="000000"/>
              </a:solidFill>
              <a:effectLst/>
            </a:endParaRPr>
          </a:p>
          <a:p>
            <a:pPr lvl="1" fontAlgn="b"/>
            <a:r>
              <a:rPr lang="fr-FR" sz="1165" b="0" dirty="0">
                <a:solidFill>
                  <a:srgbClr val="000000"/>
                </a:solidFill>
                <a:effectLst/>
              </a:rPr>
              <a:t>  </a:t>
            </a: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 Questions</a:t>
            </a: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/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/>
            <a:endParaRPr lang="fr-FR" sz="1165" b="0" i="1" dirty="0">
              <a:solidFill>
                <a:srgbClr val="CC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i="1" dirty="0">
              <a:solidFill>
                <a:srgbClr val="CC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i="1" dirty="0">
              <a:solidFill>
                <a:srgbClr val="CC0000"/>
              </a:solidFill>
              <a:effectLst/>
            </a:endParaRPr>
          </a:p>
          <a:p>
            <a:pPr lvl="1" fontAlgn="b">
              <a:buFontTx/>
              <a:buChar char="•"/>
            </a:pPr>
            <a:endParaRPr lang="fr-FR" sz="1165" b="0" i="1" dirty="0">
              <a:solidFill>
                <a:srgbClr val="CC0000"/>
              </a:solidFill>
              <a:effectLst/>
            </a:endParaRPr>
          </a:p>
          <a:p>
            <a:pPr fontAlgn="b">
              <a:lnSpc>
                <a:spcPct val="80000"/>
              </a:lnSpc>
              <a:spcAft>
                <a:spcPct val="45000"/>
              </a:spcAft>
            </a:pPr>
            <a:r>
              <a:rPr lang="fr-FR" sz="1165" b="0" dirty="0">
                <a:effectLst/>
              </a:rPr>
              <a:t> </a:t>
            </a:r>
            <a:endParaRPr lang="en-GB" sz="1165" b="0" dirty="0">
              <a:effectLst/>
            </a:endParaRPr>
          </a:p>
        </p:txBody>
      </p:sp>
      <p:pic>
        <p:nvPicPr>
          <p:cNvPr id="28676" name="Picture 1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21197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 dirty="0">
                <a:effectLst/>
                <a:latin typeface="Tahoma" charset="0"/>
                <a:ea typeface="MS PGothic" charset="0"/>
              </a:rPr>
              <a:t>Réunion du 31 mars 2016</a:t>
            </a:r>
            <a:endParaRPr lang="en-GB" dirty="0">
              <a:effectLst/>
              <a:latin typeface="Tahoma" charset="0"/>
              <a:ea typeface="MS PGothic" charset="0"/>
            </a:endParaRPr>
          </a:p>
        </p:txBody>
      </p:sp>
      <p:sp>
        <p:nvSpPr>
          <p:cNvPr id="30722" name="Rectangle 6"/>
          <p:cNvSpPr>
            <a:spLocks noChangeArrowheads="1"/>
          </p:cNvSpPr>
          <p:nvPr/>
        </p:nvSpPr>
        <p:spPr bwMode="auto">
          <a:xfrm>
            <a:off x="566092" y="2479243"/>
            <a:ext cx="4393360" cy="2191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1" indent="-199774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Rendez-vous aéroport Toulouse-Blagnac</a:t>
            </a:r>
          </a:p>
          <a:p>
            <a:pPr lvl="1" indent="-199774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Précisions :</a:t>
            </a:r>
          </a:p>
          <a:p>
            <a:pPr lvl="2" fontAlgn="b">
              <a:lnSpc>
                <a:spcPct val="20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816" b="0" i="1" dirty="0">
                <a:solidFill>
                  <a:srgbClr val="000000"/>
                </a:solidFill>
                <a:effectLst/>
                <a:sym typeface="Wingdings" charset="0"/>
              </a:rPr>
              <a:t> Carte de tourisme (visa)</a:t>
            </a:r>
            <a:endParaRPr lang="fr-FR" sz="816" b="0" i="1" dirty="0">
              <a:solidFill>
                <a:srgbClr val="000000"/>
              </a:solidFill>
              <a:effectLst/>
            </a:endParaRPr>
          </a:p>
          <a:p>
            <a:pPr lvl="2" fontAlgn="b">
              <a:lnSpc>
                <a:spcPct val="20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816" b="0" i="1" dirty="0">
                <a:solidFill>
                  <a:srgbClr val="000000"/>
                </a:solidFill>
                <a:effectLst/>
                <a:sym typeface="Wingdings" charset="0"/>
              </a:rPr>
              <a:t> Arrivée Aéroport La Havane</a:t>
            </a:r>
          </a:p>
          <a:p>
            <a:pPr lvl="1" indent="-199774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Remise de la documentation</a:t>
            </a:r>
          </a:p>
          <a:p>
            <a:pPr lvl="1" indent="-199774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Versement du solde coût voyage </a:t>
            </a:r>
            <a:r>
              <a:rPr lang="fr-FR" sz="1165" b="0" i="1" dirty="0">
                <a:solidFill>
                  <a:srgbClr val="000000"/>
                </a:solidFill>
                <a:effectLst/>
              </a:rPr>
              <a:t>(en espèces)</a:t>
            </a:r>
          </a:p>
        </p:txBody>
      </p:sp>
      <p:pic>
        <p:nvPicPr>
          <p:cNvPr id="30723" name="Picture 2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32"/>
          <p:cNvSpPr>
            <a:spLocks noGrp="1" noChangeArrowheads="1"/>
          </p:cNvSpPr>
          <p:nvPr>
            <p:ph type="title"/>
          </p:nvPr>
        </p:nvSpPr>
        <p:spPr>
          <a:xfrm>
            <a:off x="266383" y="1952157"/>
            <a:ext cx="4794885" cy="147066"/>
          </a:xfrm>
        </p:spPr>
        <p:txBody>
          <a:bodyPr/>
          <a:lstStyle/>
          <a:p>
            <a:pPr eaLnBrk="1" hangingPunct="1"/>
            <a:r>
              <a:rPr lang="fr-FR" dirty="0">
                <a:effectLst/>
                <a:latin typeface="Tahoma" charset="0"/>
                <a:ea typeface="MS PGothic" charset="0"/>
              </a:rPr>
              <a:t>Le Groupe Janvier 2017</a:t>
            </a:r>
            <a:endParaRPr lang="en-GB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7546" name="Group 13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469717533"/>
              </p:ext>
            </p:extLst>
          </p:nvPr>
        </p:nvGraphicFramePr>
        <p:xfrm>
          <a:off x="374585" y="2406293"/>
          <a:ext cx="4661726" cy="2705466"/>
        </p:xfrm>
        <a:graphic>
          <a:graphicData uri="http://schemas.openxmlformats.org/drawingml/2006/table">
            <a:tbl>
              <a:tblPr firstRow="1"/>
              <a:tblGrid>
                <a:gridCol w="112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3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Participants</a:t>
                      </a:r>
                      <a:endParaRPr kumimoji="0" lang="en-GB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Portable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e-mail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60">
                <a:tc>
                  <a:txBody>
                    <a:bodyPr/>
                    <a:lstStyle/>
                    <a:p>
                      <a:r>
                        <a:rPr kumimoji="0" lang="fr-F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DUCLOS</a:t>
                      </a:r>
                      <a:r>
                        <a:rPr lang="fr-FR" sz="700" dirty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kumimoji="0" lang="fr-F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Gérard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06 45 76 65 78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gerard65.duclos@orange.fr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60">
                <a:tc>
                  <a:txBody>
                    <a:bodyPr/>
                    <a:lstStyle/>
                    <a:p>
                      <a:r>
                        <a:rPr kumimoji="0" lang="fr-F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GARROT Chouca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06 95 05 74 83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gilbert.garrot@gmail.com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2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GARROT Gilbert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06 95 05 74 83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gilbert.garrot@gmail.com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12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SORRIBAS Georges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06 51 39 90 46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101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georges.sorribas@free.fr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75000">
                          <a:schemeClr val="accent2">
                            <a:lumMod val="20000"/>
                            <a:lumOff val="80000"/>
                          </a:schemeClr>
                        </a:gs>
                        <a:gs pos="100000">
                          <a:schemeClr val="accent6">
                            <a:lumMod val="40000"/>
                            <a:lumOff val="6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10199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12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DAROQUE Patrick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06 10 95 09 84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patrick.daroque@gmail.com</a:t>
                      </a:r>
                    </a:p>
                  </a:txBody>
                  <a:tcPr marL="52438" marR="52438" marT="27268" marB="27268" anchor="ctr" horzOverflow="overflow">
                    <a:lnL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6916" name="Picture 536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74" y="2537355"/>
            <a:ext cx="5219921" cy="2830334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97"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432843" indent="-166478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665912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932277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1198641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1465006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1731371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1997735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2264100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fld id="{25C8DE6C-33CF-AE4A-BCC8-54908630F163}" type="slidenum">
              <a:rPr lang="en-GB" sz="699">
                <a:solidFill>
                  <a:srgbClr val="000000"/>
                </a:solidFill>
                <a:latin typeface="Comic Sans MS" charset="0"/>
              </a:rPr>
              <a:pPr eaLnBrk="1" hangingPunct="1">
                <a:defRPr/>
              </a:pPr>
              <a:t>9</a:t>
            </a:fld>
            <a:endParaRPr lang="en-GB" sz="699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effectLst/>
                <a:latin typeface="Arial" charset="0"/>
                <a:cs typeface="+mj-cs"/>
              </a:rPr>
              <a:t>Calendrier 2017</a:t>
            </a:r>
          </a:p>
        </p:txBody>
      </p:sp>
      <p:sp>
        <p:nvSpPr>
          <p:cNvPr id="2" name="Rectangle 1"/>
          <p:cNvSpPr/>
          <p:nvPr/>
        </p:nvSpPr>
        <p:spPr>
          <a:xfrm>
            <a:off x="52845" y="3469146"/>
            <a:ext cx="297031" cy="1892348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16" name="Rectangle 15"/>
          <p:cNvSpPr/>
          <p:nvPr/>
        </p:nvSpPr>
        <p:spPr>
          <a:xfrm>
            <a:off x="926140" y="2688719"/>
            <a:ext cx="297031" cy="96657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</p:spTree>
    <p:extLst>
      <p:ext uri="{BB962C8B-B14F-4D97-AF65-F5344CB8AC3E}">
        <p14:creationId xmlns:p14="http://schemas.microsoft.com/office/powerpoint/2010/main" val="1708943913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74" y="2537355"/>
            <a:ext cx="5219921" cy="2830334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97"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432843" indent="-166478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665912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932277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1198641" indent="-133182" eaLnBrk="0" hangingPunct="0"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1465006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1731371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1997735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2264100" indent="-133182" eaLnBrk="0" fontAlgn="base" hangingPunct="0">
              <a:spcBef>
                <a:spcPct val="0"/>
              </a:spcBef>
              <a:spcAft>
                <a:spcPct val="0"/>
              </a:spcAft>
              <a:defRPr sz="2097"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fld id="{25C8DE6C-33CF-AE4A-BCC8-54908630F163}" type="slidenum">
              <a:rPr lang="en-GB" sz="699">
                <a:solidFill>
                  <a:srgbClr val="000000"/>
                </a:solidFill>
                <a:latin typeface="Comic Sans MS" charset="0"/>
              </a:rPr>
              <a:pPr eaLnBrk="1" hangingPunct="1">
                <a:defRPr/>
              </a:pPr>
              <a:t>10</a:t>
            </a:fld>
            <a:endParaRPr lang="en-GB" sz="699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effectLst/>
                <a:latin typeface="Arial" charset="0"/>
                <a:cs typeface="+mj-cs"/>
              </a:rPr>
              <a:t>Calendrier 2017</a:t>
            </a:r>
          </a:p>
        </p:txBody>
      </p:sp>
      <p:sp>
        <p:nvSpPr>
          <p:cNvPr id="2" name="Rectangle 1"/>
          <p:cNvSpPr/>
          <p:nvPr/>
        </p:nvSpPr>
        <p:spPr>
          <a:xfrm>
            <a:off x="52845" y="3469146"/>
            <a:ext cx="297031" cy="1892348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16" name="Rectangle 15"/>
          <p:cNvSpPr/>
          <p:nvPr/>
        </p:nvSpPr>
        <p:spPr>
          <a:xfrm>
            <a:off x="926140" y="2688719"/>
            <a:ext cx="297031" cy="96657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17" name="Rectangle 16"/>
          <p:cNvSpPr/>
          <p:nvPr/>
        </p:nvSpPr>
        <p:spPr>
          <a:xfrm>
            <a:off x="925397" y="3632237"/>
            <a:ext cx="297031" cy="1729257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18" name="Rectangle 17"/>
          <p:cNvSpPr/>
          <p:nvPr/>
        </p:nvSpPr>
        <p:spPr>
          <a:xfrm>
            <a:off x="1803780" y="2691169"/>
            <a:ext cx="297031" cy="96657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19" name="Rectangle 18"/>
          <p:cNvSpPr/>
          <p:nvPr/>
        </p:nvSpPr>
        <p:spPr>
          <a:xfrm>
            <a:off x="4433578" y="2697656"/>
            <a:ext cx="297031" cy="837666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20" name="Rectangle 19"/>
          <p:cNvSpPr/>
          <p:nvPr/>
        </p:nvSpPr>
        <p:spPr>
          <a:xfrm>
            <a:off x="2672521" y="2693679"/>
            <a:ext cx="297031" cy="2666562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21" name="Rectangle 20"/>
          <p:cNvSpPr/>
          <p:nvPr/>
        </p:nvSpPr>
        <p:spPr>
          <a:xfrm>
            <a:off x="3551391" y="2688535"/>
            <a:ext cx="297031" cy="2666562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22" name="Rectangle 21"/>
          <p:cNvSpPr/>
          <p:nvPr/>
        </p:nvSpPr>
        <p:spPr>
          <a:xfrm>
            <a:off x="1795333" y="3625358"/>
            <a:ext cx="297031" cy="1729257"/>
          </a:xfrm>
          <a:prstGeom prst="rect">
            <a:avLst/>
          </a:prstGeom>
          <a:solidFill>
            <a:schemeClr val="accent5">
              <a:lumMod val="75000"/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  <p:sp>
        <p:nvSpPr>
          <p:cNvPr id="23" name="Rectangle 22"/>
          <p:cNvSpPr/>
          <p:nvPr/>
        </p:nvSpPr>
        <p:spPr>
          <a:xfrm>
            <a:off x="4434521" y="4237686"/>
            <a:ext cx="297031" cy="1118621"/>
          </a:xfrm>
          <a:prstGeom prst="rect">
            <a:avLst/>
          </a:prstGeom>
          <a:solidFill>
            <a:srgbClr val="FF00FF">
              <a:alpha val="39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 dirty="0"/>
          </a:p>
        </p:txBody>
      </p:sp>
    </p:spTree>
    <p:extLst>
      <p:ext uri="{BB962C8B-B14F-4D97-AF65-F5344CB8AC3E}">
        <p14:creationId xmlns:p14="http://schemas.microsoft.com/office/powerpoint/2010/main" val="1708943913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33658"/>
            <a:ext cx="5224057" cy="40142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	</a:t>
            </a:r>
            <a:r>
              <a:rPr lang="fr-FR" i="1" dirty="0">
                <a:solidFill>
                  <a:schemeClr val="bg1"/>
                </a:solidFill>
                <a:effectLst/>
                <a:sym typeface="Wingdings" pitchFamily="2" charset="2"/>
              </a:rPr>
              <a:t>Train : Acheminement Paris Montparnasse</a:t>
            </a:r>
            <a:endParaRPr lang="en-GB" i="1" dirty="0">
              <a:solidFill>
                <a:schemeClr val="bg1"/>
              </a:solidFill>
              <a:effectLst/>
              <a:sym typeface="Wingdings" pitchFamily="2" charset="2"/>
            </a:endParaRPr>
          </a:p>
        </p:txBody>
      </p:sp>
      <p:sp>
        <p:nvSpPr>
          <p:cNvPr id="18" name="Flèche courbée vers le bas 17"/>
          <p:cNvSpPr/>
          <p:nvPr/>
        </p:nvSpPr>
        <p:spPr>
          <a:xfrm rot="20918071" flipH="1">
            <a:off x="472572" y="2613557"/>
            <a:ext cx="4105653" cy="567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>
              <a:solidFill>
                <a:schemeClr val="tx1"/>
              </a:solidFill>
            </a:endParaRPr>
          </a:p>
        </p:txBody>
      </p:sp>
      <p:sp>
        <p:nvSpPr>
          <p:cNvPr id="21" name="ZoneTexte 12"/>
          <p:cNvSpPr txBox="1">
            <a:spLocks noChangeArrowheads="1"/>
          </p:cNvSpPr>
          <p:nvPr/>
        </p:nvSpPr>
        <p:spPr bwMode="auto">
          <a:xfrm>
            <a:off x="3829257" y="3613347"/>
            <a:ext cx="1498393" cy="2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816" b="0" i="1" dirty="0">
                <a:solidFill>
                  <a:srgbClr val="FF0000"/>
                </a:solidFill>
                <a:effectLst/>
              </a:rPr>
              <a:t>Paris – Gare Montparnasse</a:t>
            </a:r>
          </a:p>
        </p:txBody>
      </p:sp>
      <p:sp>
        <p:nvSpPr>
          <p:cNvPr id="15" name="ZoneTexte 12"/>
          <p:cNvSpPr txBox="1">
            <a:spLocks noChangeArrowheads="1"/>
          </p:cNvSpPr>
          <p:nvPr/>
        </p:nvSpPr>
        <p:spPr bwMode="auto">
          <a:xfrm>
            <a:off x="417572" y="4653911"/>
            <a:ext cx="497252" cy="2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816" b="0" i="1" dirty="0">
                <a:solidFill>
                  <a:srgbClr val="FF0000"/>
                </a:solidFill>
                <a:effectLst/>
              </a:rPr>
              <a:t>Tarbes</a:t>
            </a:r>
          </a:p>
        </p:txBody>
      </p:sp>
      <p:sp>
        <p:nvSpPr>
          <p:cNvPr id="59394" name="AutoShape 2" descr="Résultat de recherche d'images pour &quot;air caraibes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pic>
        <p:nvPicPr>
          <p:cNvPr id="3" name="Picture 4" descr="https://tse1.mm.bing.net/th?&amp;id=OIP.Mcfddc88b4f6e7f3c31fd5224991f16f7o0&amp;w=159&amp;h=145&amp;c=0&amp;pid=1.9&amp;rs=0&amp;p=0&amp;r=0">
            <a:hlinkClick r:id="rId3" tooltip="Afficher les détails des images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8094" y="3821459"/>
            <a:ext cx="882392" cy="804698"/>
          </a:xfrm>
          <a:prstGeom prst="rect">
            <a:avLst/>
          </a:prstGeom>
          <a:noFill/>
        </p:spPr>
      </p:pic>
      <p:sp>
        <p:nvSpPr>
          <p:cNvPr id="16" name="ZoneTexte 15"/>
          <p:cNvSpPr txBox="1"/>
          <p:nvPr/>
        </p:nvSpPr>
        <p:spPr>
          <a:xfrm>
            <a:off x="874055" y="4820401"/>
            <a:ext cx="1040670" cy="217880"/>
          </a:xfrm>
          <a:prstGeom prst="rect">
            <a:avLst/>
          </a:prstGeom>
          <a:solidFill>
            <a:srgbClr val="F9E1F6"/>
          </a:solidFill>
        </p:spPr>
        <p:txBody>
          <a:bodyPr wrap="none" rtlCol="0">
            <a:spAutoFit/>
          </a:bodyPr>
          <a:lstStyle/>
          <a:p>
            <a:r>
              <a:rPr lang="fr-FR" sz="816" b="0" i="1" dirty="0">
                <a:effectLst/>
              </a:rPr>
              <a:t>9 janvier - 10 h 14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288164" y="2656028"/>
            <a:ext cx="968535" cy="217880"/>
          </a:xfrm>
          <a:prstGeom prst="rect">
            <a:avLst/>
          </a:prstGeom>
          <a:solidFill>
            <a:srgbClr val="FF99FF"/>
          </a:solidFill>
        </p:spPr>
        <p:txBody>
          <a:bodyPr wrap="none" rtlCol="0">
            <a:spAutoFit/>
          </a:bodyPr>
          <a:lstStyle/>
          <a:p>
            <a:r>
              <a:rPr lang="fr-FR" sz="816" b="0" i="1" dirty="0">
                <a:effectLst/>
              </a:rPr>
              <a:t>2 février - 6 h 28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624320" y="3613347"/>
            <a:ext cx="1026243" cy="217880"/>
          </a:xfrm>
          <a:prstGeom prst="rect">
            <a:avLst/>
          </a:prstGeom>
          <a:solidFill>
            <a:srgbClr val="FF99FF"/>
          </a:solidFill>
        </p:spPr>
        <p:txBody>
          <a:bodyPr wrap="none" rtlCol="0">
            <a:spAutoFit/>
          </a:bodyPr>
          <a:lstStyle/>
          <a:p>
            <a:r>
              <a:rPr lang="fr-FR" sz="816" b="0" i="1" dirty="0">
                <a:effectLst/>
              </a:rPr>
              <a:t>2 février - 12 h 44</a:t>
            </a:r>
          </a:p>
        </p:txBody>
      </p:sp>
      <p:pic>
        <p:nvPicPr>
          <p:cNvPr id="59400" name="Picture 8" descr="https://tse1.mm.bing.net/th?&amp;id=OIP.M60232636f7c799b25c0de540f5ee507bH0&amp;w=297&amp;h=297&amp;c=0&amp;pid=1.9&amp;rs=0&amp;p=0&amp;r=0">
            <a:hlinkClick r:id="rId5" tooltip="Afficher les détails des images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45473" y="2905763"/>
            <a:ext cx="665961" cy="665961"/>
          </a:xfrm>
          <a:prstGeom prst="rect">
            <a:avLst/>
          </a:prstGeom>
          <a:noFill/>
        </p:spPr>
      </p:pic>
      <p:pic>
        <p:nvPicPr>
          <p:cNvPr id="59402" name="Picture 10" descr="https://tse1.mm.bing.net/th?&amp;id=OIP.M1d920cff30e3f99dbb7fb159c0bfea7ao0&amp;w=300&amp;h=136&amp;c=0&amp;pid=1.9&amp;rs=0&amp;p=0&amp;r=0">
            <a:hlinkClick r:id="rId7" tooltip="Afficher les détails des images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65942" y="3821460"/>
            <a:ext cx="2205996" cy="981183"/>
          </a:xfrm>
          <a:prstGeom prst="rect">
            <a:avLst/>
          </a:prstGeom>
          <a:noFill/>
        </p:spPr>
      </p:pic>
      <p:sp>
        <p:nvSpPr>
          <p:cNvPr id="17" name="ZoneTexte 16"/>
          <p:cNvSpPr txBox="1"/>
          <p:nvPr/>
        </p:nvSpPr>
        <p:spPr>
          <a:xfrm>
            <a:off x="3746011" y="3821460"/>
            <a:ext cx="1040670" cy="217880"/>
          </a:xfrm>
          <a:prstGeom prst="rect">
            <a:avLst/>
          </a:prstGeom>
          <a:solidFill>
            <a:srgbClr val="F9E1F6"/>
          </a:solidFill>
        </p:spPr>
        <p:txBody>
          <a:bodyPr wrap="none" rtlCol="0">
            <a:spAutoFit/>
          </a:bodyPr>
          <a:lstStyle/>
          <a:p>
            <a:r>
              <a:rPr lang="fr-FR" sz="816" b="0" i="1" dirty="0">
                <a:effectLst/>
              </a:rPr>
              <a:t>9 janvier - 16 h 33</a:t>
            </a:r>
          </a:p>
        </p:txBody>
      </p:sp>
      <p:sp>
        <p:nvSpPr>
          <p:cNvPr id="12" name="Flèche courbée vers le haut 11"/>
          <p:cNvSpPr/>
          <p:nvPr/>
        </p:nvSpPr>
        <p:spPr>
          <a:xfrm rot="20700827">
            <a:off x="663595" y="4396603"/>
            <a:ext cx="4569899" cy="924005"/>
          </a:xfrm>
          <a:prstGeom prst="curvedUpArrow">
            <a:avLst>
              <a:gd name="adj1" fmla="val 17874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9" dur="20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5" name="Picture 5" descr="Résultat de recherche d'images pour &quot;panneau aéroport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20615" y="4552970"/>
            <a:ext cx="870988" cy="914736"/>
          </a:xfrm>
          <a:prstGeom prst="rect">
            <a:avLst/>
          </a:prstGeom>
          <a:noFill/>
        </p:spPr>
      </p:pic>
      <p:sp>
        <p:nvSpPr>
          <p:cNvPr id="3532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33658"/>
            <a:ext cx="5224057" cy="40142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	</a:t>
            </a:r>
            <a:r>
              <a:rPr lang="fr-FR" i="1" dirty="0">
                <a:solidFill>
                  <a:schemeClr val="bg1"/>
                </a:solidFill>
                <a:effectLst/>
                <a:sym typeface="Wingdings" pitchFamily="2" charset="2"/>
              </a:rPr>
              <a:t>Hôtel et Navettes</a:t>
            </a:r>
            <a:endParaRPr lang="en-GB" i="1" dirty="0">
              <a:solidFill>
                <a:schemeClr val="bg1"/>
              </a:solidFill>
              <a:effectLst/>
              <a:sym typeface="Wingdings" pitchFamily="2" charset="2"/>
            </a:endParaRPr>
          </a:p>
        </p:txBody>
      </p:sp>
      <p:sp>
        <p:nvSpPr>
          <p:cNvPr id="59394" name="AutoShape 2" descr="Résultat de recherche d'images pour &quot;air caraibes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sp>
        <p:nvSpPr>
          <p:cNvPr id="23" name="Rectangle 22"/>
          <p:cNvSpPr/>
          <p:nvPr/>
        </p:nvSpPr>
        <p:spPr>
          <a:xfrm>
            <a:off x="457829" y="2572783"/>
            <a:ext cx="4620104" cy="433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398" b="0" dirty="0">
                <a:effectLst/>
              </a:rPr>
              <a:t>Euro Hôtel Orly Rungis*** </a:t>
            </a:r>
          </a:p>
          <a:p>
            <a:r>
              <a:rPr lang="fr-FR" sz="816" b="0" dirty="0" err="1">
                <a:effectLst/>
              </a:rPr>
              <a:t>Zac</a:t>
            </a:r>
            <a:r>
              <a:rPr lang="fr-FR" sz="816" b="0" dirty="0">
                <a:effectLst/>
              </a:rPr>
              <a:t> Du Parc </a:t>
            </a:r>
            <a:r>
              <a:rPr lang="fr-FR" sz="816" b="0" dirty="0" err="1">
                <a:effectLst/>
              </a:rPr>
              <a:t>Medicis</a:t>
            </a:r>
            <a:r>
              <a:rPr lang="fr-FR" sz="816" b="0" dirty="0">
                <a:effectLst/>
              </a:rPr>
              <a:t>, Avenue Du Parc </a:t>
            </a:r>
            <a:r>
              <a:rPr lang="fr-FR" sz="816" b="0" dirty="0" err="1">
                <a:effectLst/>
              </a:rPr>
              <a:t>Medicis</a:t>
            </a:r>
            <a:r>
              <a:rPr lang="fr-FR" sz="816" b="0" dirty="0">
                <a:effectLst/>
              </a:rPr>
              <a:t>, 94260 Fresnes</a:t>
            </a:r>
          </a:p>
        </p:txBody>
      </p:sp>
      <p:pic>
        <p:nvPicPr>
          <p:cNvPr id="59404" name="Picture 12" descr="http://r-ec.bstatic.com/images/hotel/840x460/597/5976944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4584" y="3779837"/>
            <a:ext cx="1596135" cy="874074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</p:pic>
      <p:pic>
        <p:nvPicPr>
          <p:cNvPr id="61443" name="Picture 3" descr="Afficher l'image d'origin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95747" y="3518833"/>
            <a:ext cx="1011018" cy="385872"/>
          </a:xfrm>
          <a:prstGeom prst="rect">
            <a:avLst/>
          </a:prstGeom>
          <a:noFill/>
        </p:spPr>
      </p:pic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50330" y="3321989"/>
            <a:ext cx="1123809" cy="41647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2250330" y="3742376"/>
            <a:ext cx="449162" cy="18652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fr-FR" sz="612" b="0" i="1" dirty="0">
                <a:solidFill>
                  <a:srgbClr val="000099"/>
                </a:solidFill>
                <a:effectLst/>
              </a:rPr>
              <a:t>  Taxi   </a:t>
            </a:r>
            <a:endParaRPr lang="fr-FR" sz="408" b="0" i="1" dirty="0">
              <a:solidFill>
                <a:srgbClr val="000099"/>
              </a:solidFill>
              <a:effectLst/>
            </a:endParaRPr>
          </a:p>
        </p:txBody>
      </p:sp>
      <p:cxnSp>
        <p:nvCxnSpPr>
          <p:cNvPr id="35" name="Connecteur en arc 34"/>
          <p:cNvCxnSpPr/>
          <p:nvPr/>
        </p:nvCxnSpPr>
        <p:spPr>
          <a:xfrm flipV="1">
            <a:off x="2039487" y="3738214"/>
            <a:ext cx="1873015" cy="291358"/>
          </a:xfrm>
          <a:prstGeom prst="curvedConnector3">
            <a:avLst>
              <a:gd name="adj1" fmla="val 50000"/>
            </a:avLst>
          </a:prstGeom>
          <a:ln w="444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en arc 55"/>
          <p:cNvCxnSpPr>
            <a:endCxn id="61445" idx="1"/>
          </p:cNvCxnSpPr>
          <p:nvPr/>
        </p:nvCxnSpPr>
        <p:spPr>
          <a:xfrm>
            <a:off x="2039487" y="4445798"/>
            <a:ext cx="2081128" cy="564540"/>
          </a:xfrm>
          <a:prstGeom prst="curvedConnector3">
            <a:avLst>
              <a:gd name="adj1" fmla="val 50000"/>
            </a:avLst>
          </a:prstGeom>
          <a:ln w="444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47" name="AutoShape 7" descr="Résultat de recherche d'images pour &quot;DESSIN HOTEL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sp>
        <p:nvSpPr>
          <p:cNvPr id="61449" name="AutoShape 9" descr="Résultat de recherche d'images pour &quot;DESSIN HOTEL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sp>
        <p:nvSpPr>
          <p:cNvPr id="61451" name="AutoShape 11" descr="Résultat de recherche d'images pour &quot;DESSIN HOTEL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grpSp>
        <p:nvGrpSpPr>
          <p:cNvPr id="69" name="Groupe 68"/>
          <p:cNvGrpSpPr/>
          <p:nvPr/>
        </p:nvGrpSpPr>
        <p:grpSpPr>
          <a:xfrm>
            <a:off x="2122732" y="4862025"/>
            <a:ext cx="1642701" cy="673919"/>
            <a:chOff x="3428992" y="5143512"/>
            <a:chExt cx="2819415" cy="1156667"/>
          </a:xfrm>
        </p:grpSpPr>
        <p:pic>
          <p:nvPicPr>
            <p:cNvPr id="59406" name="Picture 14" descr="http://r-ec.bstatic.com/images/hotel/840x460/597/59769591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428992" y="5143512"/>
              <a:ext cx="1669999" cy="92869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</p:pic>
        <p:sp>
          <p:nvSpPr>
            <p:cNvPr id="68" name="Rectangle 67"/>
            <p:cNvSpPr/>
            <p:nvPr/>
          </p:nvSpPr>
          <p:spPr>
            <a:xfrm>
              <a:off x="5105399" y="5656708"/>
              <a:ext cx="1143008" cy="64347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fr-FR" sz="612" b="0" i="1" dirty="0">
                  <a:solidFill>
                    <a:srgbClr val="000099"/>
                  </a:solidFill>
                  <a:effectLst/>
                </a:rPr>
                <a:t>Navette</a:t>
              </a:r>
              <a:br>
                <a:rPr lang="fr-FR" sz="612" b="0" i="1" dirty="0">
                  <a:solidFill>
                    <a:srgbClr val="000099"/>
                  </a:solidFill>
                  <a:effectLst/>
                </a:rPr>
              </a:br>
              <a:r>
                <a:rPr lang="fr-FR" sz="612" b="0" i="1" dirty="0">
                  <a:solidFill>
                    <a:srgbClr val="000099"/>
                  </a:solidFill>
                  <a:effectLst/>
                </a:rPr>
                <a:t>Hôtel - Orly Sud</a:t>
              </a:r>
              <a:endParaRPr lang="fr-FR" sz="408" b="0" i="1" dirty="0">
                <a:solidFill>
                  <a:srgbClr val="000099"/>
                </a:solidFill>
                <a:effectLst/>
              </a:endParaRPr>
            </a:p>
          </p:txBody>
        </p:sp>
      </p:grp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1" name="Picture 21" descr="C:\Users\J0022427\Pictures\Nuag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8658" y="3280366"/>
            <a:ext cx="2381719" cy="1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32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33658"/>
            <a:ext cx="5224057" cy="40142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fr-FR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	</a:t>
            </a:r>
            <a:r>
              <a:rPr lang="fr-FR" i="1" dirty="0">
                <a:solidFill>
                  <a:schemeClr val="bg1"/>
                </a:solidFill>
                <a:effectLst/>
                <a:sym typeface="Wingdings" pitchFamily="2" charset="2"/>
              </a:rPr>
              <a:t>Vol France - Cuba</a:t>
            </a:r>
            <a:endParaRPr lang="en-GB" i="1" dirty="0">
              <a:solidFill>
                <a:schemeClr val="bg1"/>
              </a:solidFill>
              <a:effectLst/>
              <a:sym typeface="Wingdings" pitchFamily="2" charset="2"/>
            </a:endParaRPr>
          </a:p>
        </p:txBody>
      </p:sp>
      <p:pic>
        <p:nvPicPr>
          <p:cNvPr id="19462" name="Picture 4" descr="Drapeau de la France">
            <a:hlinkClick r:id="rId4" tooltip="Drapeau de la Franc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3773" y="3903228"/>
            <a:ext cx="832451" cy="55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Flèche courbée vers le haut 11"/>
          <p:cNvSpPr/>
          <p:nvPr/>
        </p:nvSpPr>
        <p:spPr>
          <a:xfrm rot="20457696">
            <a:off x="835531" y="4407733"/>
            <a:ext cx="4253063" cy="883345"/>
          </a:xfrm>
          <a:prstGeom prst="curvedUpArrow">
            <a:avLst>
              <a:gd name="adj1" fmla="val 17874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>
              <a:solidFill>
                <a:schemeClr val="tx1"/>
              </a:solidFill>
            </a:endParaRPr>
          </a:p>
        </p:txBody>
      </p:sp>
      <p:pic>
        <p:nvPicPr>
          <p:cNvPr id="13" name="Picture 2" descr="http://www.123cuba.eu/drapeau_cuba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17049" y="3073021"/>
            <a:ext cx="787039" cy="49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Flèche courbée vers le bas 17"/>
          <p:cNvSpPr/>
          <p:nvPr/>
        </p:nvSpPr>
        <p:spPr>
          <a:xfrm rot="20918071" flipH="1">
            <a:off x="472572" y="2613557"/>
            <a:ext cx="4105653" cy="567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sz="2796">
              <a:solidFill>
                <a:schemeClr val="tx1"/>
              </a:solidFill>
            </a:endParaRPr>
          </a:p>
        </p:txBody>
      </p:sp>
      <p:sp>
        <p:nvSpPr>
          <p:cNvPr id="21" name="ZoneTexte 12"/>
          <p:cNvSpPr txBox="1">
            <a:spLocks noChangeArrowheads="1"/>
          </p:cNvSpPr>
          <p:nvPr/>
        </p:nvSpPr>
        <p:spPr bwMode="auto">
          <a:xfrm>
            <a:off x="3896240" y="3613347"/>
            <a:ext cx="1431410" cy="34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816" i="1" dirty="0">
                <a:solidFill>
                  <a:srgbClr val="FF0000"/>
                </a:solidFill>
                <a:effectLst/>
              </a:rPr>
              <a:t>Arrivée Santiago de Cuba</a:t>
            </a:r>
          </a:p>
        </p:txBody>
      </p:sp>
      <p:sp>
        <p:nvSpPr>
          <p:cNvPr id="22" name="ZoneTexte 12"/>
          <p:cNvSpPr txBox="1">
            <a:spLocks noChangeArrowheads="1"/>
          </p:cNvSpPr>
          <p:nvPr/>
        </p:nvSpPr>
        <p:spPr bwMode="auto">
          <a:xfrm>
            <a:off x="4085657" y="2822518"/>
            <a:ext cx="1052576" cy="34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816" i="1" dirty="0">
                <a:solidFill>
                  <a:srgbClr val="FF0000"/>
                </a:solidFill>
                <a:effectLst/>
              </a:rPr>
              <a:t>Départ La Havane</a:t>
            </a:r>
          </a:p>
        </p:txBody>
      </p:sp>
      <p:sp>
        <p:nvSpPr>
          <p:cNvPr id="15" name="ZoneTexte 12"/>
          <p:cNvSpPr txBox="1">
            <a:spLocks noChangeArrowheads="1"/>
          </p:cNvSpPr>
          <p:nvPr/>
        </p:nvSpPr>
        <p:spPr bwMode="auto">
          <a:xfrm>
            <a:off x="307589" y="4653911"/>
            <a:ext cx="1000595" cy="21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816" i="1" dirty="0">
                <a:solidFill>
                  <a:srgbClr val="FF0000"/>
                </a:solidFill>
                <a:effectLst/>
              </a:rPr>
              <a:t>Paris - Orly Sud</a:t>
            </a:r>
          </a:p>
        </p:txBody>
      </p:sp>
      <p:sp>
        <p:nvSpPr>
          <p:cNvPr id="59394" name="AutoShape 2" descr="Résultat de recherche d'images pour &quot;air caraibes&quot;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pic>
        <p:nvPicPr>
          <p:cNvPr id="59396" name="Picture 4" descr="Afficher l'image d'origin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78992" y="4862023"/>
            <a:ext cx="665961" cy="665961"/>
          </a:xfrm>
          <a:prstGeom prst="rect">
            <a:avLst/>
          </a:prstGeom>
          <a:noFill/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43 0.12268 L -0.09392 -0.00787 C -0.07118 -0.0375 -0.03403 -0.06505 0.00799 -0.08727 C 0.05573 -0.11274 0.09601 -0.12686 0.12726 -0.12616 L 0.275 -0.13311 " pathEditMode="relative" rAng="-1306710" ptsTypes="FffFF">
                                      <p:cBhvr>
                                        <p:cTn id="8" dur="2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00" y="-1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4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7F208409-F269-0742-B9DB-7CEC9ADD9480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14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" y="1933658"/>
            <a:ext cx="5229606" cy="401424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Vols Paris Orly 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 charset="0"/>
              </a:rPr>
              <a:t> Santiago de Cuba / La Havane  </a:t>
            </a:r>
            <a:r>
              <a:rPr lang="fr-FR" sz="1398" dirty="0">
                <a:effectLst/>
                <a:latin typeface="Tahoma" charset="0"/>
                <a:ea typeface="MS PGothic" charset="0"/>
              </a:rPr>
              <a:t>Paris Orly 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2152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04013"/>
              </p:ext>
            </p:extLst>
          </p:nvPr>
        </p:nvGraphicFramePr>
        <p:xfrm>
          <a:off x="230455" y="2290446"/>
          <a:ext cx="4928929" cy="3385278"/>
        </p:xfrm>
        <a:graphic>
          <a:graphicData uri="http://schemas.openxmlformats.org/drawingml/2006/table">
            <a:tbl>
              <a:tblPr/>
              <a:tblGrid>
                <a:gridCol w="492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507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Aller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mardi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10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janvier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2017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[TX 632]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1828800" marR="0" lvl="4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Départ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Paris-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Orly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Sud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TS     :   </a:t>
                      </a:r>
                      <a:r>
                        <a:rPr kumimoji="0" lang="en-GB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 9 h 15</a:t>
                      </a:r>
                    </a:p>
                    <a:p>
                      <a:pPr marL="1828800" marR="0" lvl="4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Arrivée Santiago de Cuba     :   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13 h 10</a:t>
                      </a:r>
                      <a:endParaRPr kumimoji="0" lang="en-GB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Retour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mardi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31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janvier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/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mercredi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</a:t>
                      </a:r>
                      <a:r>
                        <a:rPr kumimoji="0" lang="en-GB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er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février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[TX 632]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</a:txBody>
                  <a:tcPr marL="53273" marR="53273" marT="26639" marB="2663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202">
                <a:tc>
                  <a:txBody>
                    <a:bodyPr/>
                    <a:lstStyle/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Départ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La Havane-Jose Marti T3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  :    </a:t>
                      </a:r>
                      <a:r>
                        <a:rPr kumimoji="0" lang="en-GB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18 h 00</a:t>
                      </a: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Arrivée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Paris-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Orly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Sud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TS   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  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8 h 50</a:t>
                      </a: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r" defTabSz="914400" rtl="1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3" marR="53273" marT="26639" marB="2663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3014" name="Picture 1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35328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6041" y="1883213"/>
            <a:ext cx="4909577" cy="40142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3277" tIns="26638" rIns="53277" bIns="266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Assurance Santé obligatoire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49154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501484" y="3732922"/>
            <a:ext cx="4493355" cy="1186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fr-FR" sz="1049" dirty="0">
                <a:solidFill>
                  <a:srgbClr val="2929FF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Site Carte Bleue </a:t>
            </a:r>
            <a:r>
              <a:rPr lang="fr-FR" sz="1049" b="0">
                <a:solidFill>
                  <a:srgbClr val="2929FF"/>
                </a:solidFill>
                <a:effectLst/>
                <a:latin typeface="Arial" charset="0"/>
                <a:ea typeface="MS PGothic" charset="0"/>
                <a:cs typeface="MS PGothic" charset="0"/>
                <a:sym typeface="Wingdings" charset="0"/>
              </a:rPr>
              <a:t> </a:t>
            </a:r>
            <a:r>
              <a:rPr lang="fr-FR" sz="1049" b="0" u="sng">
                <a:solidFill>
                  <a:srgbClr val="2929FF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https://visa-premier.votre-assistance.fr/#/attestation</a:t>
            </a:r>
            <a:endParaRPr lang="fr-FR" sz="1049" b="0" u="sng" dirty="0">
              <a:solidFill>
                <a:srgbClr val="2929FF"/>
              </a:solidFill>
              <a:effectLst/>
              <a:latin typeface="Arial" charset="0"/>
              <a:ea typeface="MS PGothic" charset="0"/>
              <a:cs typeface="MS PGothic" charset="0"/>
            </a:endParaRPr>
          </a:p>
          <a:p>
            <a:pPr eaLnBrk="0" hangingPunct="0">
              <a:defRPr/>
            </a:pPr>
            <a:endParaRPr lang="fr-FR" sz="1398" b="0" u="sng" dirty="0">
              <a:solidFill>
                <a:srgbClr val="000000"/>
              </a:solidFill>
              <a:effectLst/>
              <a:latin typeface="Arial" charset="0"/>
              <a:ea typeface="MS PGothic" charset="0"/>
              <a:cs typeface="MS PGothic" charset="0"/>
            </a:endParaRPr>
          </a:p>
          <a:p>
            <a:pPr eaLnBrk="0" hangingPunct="0">
              <a:defRPr/>
            </a:pPr>
            <a:r>
              <a:rPr lang="fr-FR" sz="1165" b="0" dirty="0">
                <a:solidFill>
                  <a:srgbClr val="000000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Saisir les 9 premiers numéros de votre </a:t>
            </a:r>
            <a:r>
              <a:rPr lang="fr-FR" sz="1165" dirty="0">
                <a:solidFill>
                  <a:srgbClr val="2929FF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Carte Bleue </a:t>
            </a:r>
            <a:r>
              <a:rPr lang="fr-FR" sz="1165" b="0" dirty="0">
                <a:solidFill>
                  <a:srgbClr val="000000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pour accéder au formulaire de demande d'attestation d'assistance médicale </a:t>
            </a:r>
          </a:p>
          <a:p>
            <a:pPr eaLnBrk="0" hangingPunct="0">
              <a:defRPr/>
            </a:pPr>
            <a:r>
              <a:rPr lang="fr-FR" sz="1165" b="0" dirty="0">
                <a:solidFill>
                  <a:srgbClr val="000000"/>
                </a:solidFill>
                <a:effectLst/>
                <a:latin typeface="Arial" charset="0"/>
                <a:ea typeface="MS PGothic" charset="0"/>
                <a:cs typeface="MS PGothic" charset="0"/>
              </a:rPr>
              <a:t>Europ Assistance </a:t>
            </a:r>
          </a:p>
        </p:txBody>
      </p:sp>
      <p:pic>
        <p:nvPicPr>
          <p:cNvPr id="49156" name="Picture 5" descr="Image d'une Carte Bleue Visa International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819288">
            <a:off x="643925" y="2819212"/>
            <a:ext cx="1116402" cy="69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185450" y="467469"/>
            <a:ext cx="4956750" cy="295981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 Étapes</a:t>
            </a:r>
            <a:endParaRPr lang="en-GB" sz="1600" b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064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417" y="2395334"/>
            <a:ext cx="4368680" cy="2339179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B5677DC-2793-45E0-92A7-40265DBC0F51}"/>
              </a:ext>
            </a:extLst>
          </p:cNvPr>
          <p:cNvSpPr txBox="1"/>
          <p:nvPr/>
        </p:nvSpPr>
        <p:spPr>
          <a:xfrm>
            <a:off x="1573004" y="4945186"/>
            <a:ext cx="2528256" cy="253787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fr-FR" sz="1049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Réservé à des cyclistes confirmés !</a:t>
            </a:r>
          </a:p>
        </p:txBody>
      </p:sp>
    </p:spTree>
    <p:extLst>
      <p:ext uri="{BB962C8B-B14F-4D97-AF65-F5344CB8AC3E}">
        <p14:creationId xmlns:p14="http://schemas.microsoft.com/office/powerpoint/2010/main" val="2931292552"/>
      </p:ext>
    </p:extLst>
  </p:cSld>
  <p:clrMapOvr>
    <a:masterClrMapping/>
  </p:clrMapOvr>
  <p:transition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Connecteur droit 57"/>
          <p:cNvCxnSpPr/>
          <p:nvPr/>
        </p:nvCxnSpPr>
        <p:spPr>
          <a:xfrm rot="10800000" flipV="1">
            <a:off x="3915636" y="3860257"/>
            <a:ext cx="169667" cy="76989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/>
          <p:cNvCxnSpPr/>
          <p:nvPr/>
        </p:nvCxnSpPr>
        <p:spPr>
          <a:xfrm flipV="1">
            <a:off x="1027593" y="3192472"/>
            <a:ext cx="251728" cy="125864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3" y="1884896"/>
            <a:ext cx="4794885" cy="295981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3277" tIns="26638" rIns="53277" bIns="266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CUBA, Perle des Antilles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98659" name="Group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86363927"/>
              </p:ext>
            </p:extLst>
          </p:nvPr>
        </p:nvGraphicFramePr>
        <p:xfrm>
          <a:off x="482183" y="4912613"/>
          <a:ext cx="4424909" cy="857015"/>
        </p:xfrm>
        <a:graphic>
          <a:graphicData uri="http://schemas.openxmlformats.org/drawingml/2006/table">
            <a:tbl>
              <a:tblPr/>
              <a:tblGrid>
                <a:gridCol w="4424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70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1 007 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Est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O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uest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12 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étapes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- 2 </a:t>
                      </a:r>
                      <a:r>
                        <a:rPr kumimoji="0" lang="en-GB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jours</a:t>
                      </a:r>
                      <a:r>
                        <a:rPr kumimoji="0" lang="en-GB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2929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repos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00" b="0" i="1" u="none" strike="noStrike" cap="none" normalizeH="0" baseline="0" dirty="0">
                        <a:ln>
                          <a:noFill/>
                        </a:ln>
                        <a:solidFill>
                          <a:srgbClr val="2929FF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                           </a:t>
                      </a:r>
                      <a:r>
                        <a:rPr kumimoji="0" lang="en-GB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Transfert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2929FF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21" marB="2662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207" name="Object 1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5707927"/>
              </p:ext>
            </p:extLst>
          </p:nvPr>
        </p:nvGraphicFramePr>
        <p:xfrm>
          <a:off x="457830" y="2323048"/>
          <a:ext cx="4533127" cy="2415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2" name="Photo Editor Photo" r:id="rId4" imgW="10495238" imgH="5590476" progId="">
                  <p:embed/>
                </p:oleObj>
              </mc:Choice>
              <mc:Fallback>
                <p:oleObj name="Photo Editor Photo" r:id="rId4" imgW="10495238" imgH="5590476" progId="">
                  <p:embed/>
                  <p:pic>
                    <p:nvPicPr>
                      <p:cNvPr id="0" name="Picture 3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0" y="2323048"/>
                        <a:ext cx="4533127" cy="2415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8" name="Picture 1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Connecteur droit 9"/>
          <p:cNvCxnSpPr/>
          <p:nvPr/>
        </p:nvCxnSpPr>
        <p:spPr>
          <a:xfrm>
            <a:off x="3864661" y="4340086"/>
            <a:ext cx="198266" cy="1144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rot="10800000" flipV="1">
            <a:off x="3587707" y="4335859"/>
            <a:ext cx="266383" cy="2959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rot="10800000">
            <a:off x="3454094" y="4332581"/>
            <a:ext cx="102113" cy="3995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3636333" y="4185754"/>
            <a:ext cx="143762" cy="27483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V="1">
            <a:off x="3462973" y="4228037"/>
            <a:ext cx="150105" cy="8456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rot="10800000" flipV="1">
            <a:off x="3944999" y="3891887"/>
            <a:ext cx="150105" cy="7399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rot="10800000">
            <a:off x="3289612" y="3784066"/>
            <a:ext cx="615218" cy="181817"/>
          </a:xfrm>
          <a:prstGeom prst="line">
            <a:avLst/>
          </a:prstGeom>
          <a:ln w="66675" cmpd="sng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rot="10800000">
            <a:off x="2835072" y="3581107"/>
            <a:ext cx="469344" cy="207188"/>
          </a:xfrm>
          <a:prstGeom prst="line">
            <a:avLst/>
          </a:prstGeom>
          <a:ln w="66675" cmpd="sng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V="1">
            <a:off x="2490465" y="3581108"/>
            <a:ext cx="190274" cy="29597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 rot="16200000" flipV="1">
            <a:off x="2387930" y="3506055"/>
            <a:ext cx="160675" cy="1902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140487" y="3233615"/>
            <a:ext cx="174504" cy="34599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1891186" y="3122614"/>
            <a:ext cx="252559" cy="116002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729372" y="3111766"/>
            <a:ext cx="141648" cy="92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1857203" y="5489180"/>
            <a:ext cx="755184" cy="0"/>
          </a:xfrm>
          <a:prstGeom prst="line">
            <a:avLst/>
          </a:prstGeom>
          <a:ln w="76200" cmpd="sng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rot="16200000" flipH="1">
            <a:off x="2423229" y="3376675"/>
            <a:ext cx="53222" cy="1877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rot="16200000" flipH="1">
            <a:off x="2405838" y="3330241"/>
            <a:ext cx="44254" cy="2775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2298077" y="3263986"/>
            <a:ext cx="124339" cy="67718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necteur 26"/>
          <p:cNvSpPr/>
          <p:nvPr/>
        </p:nvSpPr>
        <p:spPr>
          <a:xfrm>
            <a:off x="3834517" y="4316752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69" name="Connecteur 68"/>
          <p:cNvSpPr/>
          <p:nvPr/>
        </p:nvSpPr>
        <p:spPr>
          <a:xfrm>
            <a:off x="3533400" y="4345822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71" name="Connecteur 70"/>
          <p:cNvSpPr/>
          <p:nvPr/>
        </p:nvSpPr>
        <p:spPr>
          <a:xfrm>
            <a:off x="3425844" y="4302668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39" name="Connecteur 38"/>
          <p:cNvSpPr/>
          <p:nvPr/>
        </p:nvSpPr>
        <p:spPr>
          <a:xfrm>
            <a:off x="3595981" y="4199206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70" name="Connecteur 69"/>
          <p:cNvSpPr/>
          <p:nvPr/>
        </p:nvSpPr>
        <p:spPr>
          <a:xfrm>
            <a:off x="2453598" y="3590751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72" name="Connecteur 71"/>
          <p:cNvSpPr/>
          <p:nvPr/>
        </p:nvSpPr>
        <p:spPr>
          <a:xfrm>
            <a:off x="2428283" y="3402245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73" name="Connecteur 72"/>
          <p:cNvSpPr/>
          <p:nvPr/>
        </p:nvSpPr>
        <p:spPr>
          <a:xfrm>
            <a:off x="2112799" y="3218236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91" name="Connecteur 90"/>
          <p:cNvSpPr/>
          <p:nvPr/>
        </p:nvSpPr>
        <p:spPr>
          <a:xfrm>
            <a:off x="1581639" y="3072253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92" name="Connecteur 91"/>
          <p:cNvSpPr/>
          <p:nvPr/>
        </p:nvSpPr>
        <p:spPr>
          <a:xfrm>
            <a:off x="1857716" y="3101165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4037370" y="4237685"/>
            <a:ext cx="353081" cy="353488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466" dirty="0">
                <a:solidFill>
                  <a:srgbClr val="2929FF"/>
                </a:solidFill>
                <a:effectLst/>
              </a:rPr>
              <a:t>Départ</a:t>
            </a:r>
          </a:p>
          <a:p>
            <a:pPr algn="ctr"/>
            <a:endParaRPr lang="fr-FR" sz="175" dirty="0">
              <a:solidFill>
                <a:srgbClr val="2929FF"/>
              </a:solidFill>
              <a:effectLst/>
            </a:endParaRPr>
          </a:p>
          <a:p>
            <a:pPr algn="ctr"/>
            <a:r>
              <a:rPr lang="fr-FR" sz="466" b="0" i="1" dirty="0">
                <a:solidFill>
                  <a:srgbClr val="2929FF"/>
                </a:solidFill>
                <a:effectLst/>
              </a:rPr>
              <a:t>Santiago</a:t>
            </a:r>
          </a:p>
          <a:p>
            <a:pPr algn="ctr"/>
            <a:r>
              <a:rPr lang="fr-FR" sz="466" b="0" i="1" dirty="0">
                <a:solidFill>
                  <a:srgbClr val="2929FF"/>
                </a:solidFill>
                <a:effectLst/>
              </a:rPr>
              <a:t>de Cuba</a:t>
            </a:r>
          </a:p>
        </p:txBody>
      </p:sp>
      <p:sp>
        <p:nvSpPr>
          <p:cNvPr id="198670" name="Oval 14"/>
          <p:cNvSpPr>
            <a:spLocks noChangeArrowheads="1"/>
          </p:cNvSpPr>
          <p:nvPr/>
        </p:nvSpPr>
        <p:spPr bwMode="auto">
          <a:xfrm>
            <a:off x="1451229" y="2899107"/>
            <a:ext cx="353081" cy="35348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466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Arrivée</a:t>
            </a:r>
          </a:p>
          <a:p>
            <a:pPr algn="ctr"/>
            <a:endParaRPr lang="fr-FR" sz="117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  <a:p>
            <a:pPr algn="ctr"/>
            <a:r>
              <a:rPr lang="fr-FR" sz="466" b="0" i="1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La Havane</a:t>
            </a:r>
          </a:p>
        </p:txBody>
      </p:sp>
      <p:cxnSp>
        <p:nvCxnSpPr>
          <p:cNvPr id="57" name="Connecteur droit 56"/>
          <p:cNvCxnSpPr/>
          <p:nvPr/>
        </p:nvCxnSpPr>
        <p:spPr>
          <a:xfrm rot="10800000">
            <a:off x="2718000" y="3583342"/>
            <a:ext cx="124867" cy="1993"/>
          </a:xfrm>
          <a:prstGeom prst="line">
            <a:avLst/>
          </a:prstGeom>
          <a:ln w="66675" cmpd="sng"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onnecteur 67"/>
          <p:cNvSpPr/>
          <p:nvPr/>
        </p:nvSpPr>
        <p:spPr>
          <a:xfrm>
            <a:off x="2676444" y="3562531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cxnSp>
        <p:nvCxnSpPr>
          <p:cNvPr id="77" name="Connecteur droit 76"/>
          <p:cNvCxnSpPr/>
          <p:nvPr/>
        </p:nvCxnSpPr>
        <p:spPr>
          <a:xfrm rot="5400000">
            <a:off x="3757897" y="4004994"/>
            <a:ext cx="217757" cy="147989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onnecteur 52"/>
          <p:cNvSpPr/>
          <p:nvPr/>
        </p:nvSpPr>
        <p:spPr>
          <a:xfrm>
            <a:off x="3759207" y="4163166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cxnSp>
        <p:nvCxnSpPr>
          <p:cNvPr id="66" name="Connecteur droit 65"/>
          <p:cNvCxnSpPr/>
          <p:nvPr/>
        </p:nvCxnSpPr>
        <p:spPr>
          <a:xfrm rot="10800000" flipV="1">
            <a:off x="3955569" y="3896114"/>
            <a:ext cx="135307" cy="61311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onnecteur 50"/>
          <p:cNvSpPr/>
          <p:nvPr/>
        </p:nvSpPr>
        <p:spPr>
          <a:xfrm>
            <a:off x="3912502" y="3946327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  <p:sp>
        <p:nvSpPr>
          <p:cNvPr id="45" name="Connecteur 44"/>
          <p:cNvSpPr/>
          <p:nvPr/>
        </p:nvSpPr>
        <p:spPr>
          <a:xfrm>
            <a:off x="4072335" y="3867822"/>
            <a:ext cx="56609" cy="41955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96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1"/>
                                            </p:cond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0"/>
                            </p:stCondLst>
                            <p:childTnLst>
                              <p:par>
                                <p:cTn id="6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5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0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0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5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5500"/>
                            </p:stCondLst>
                            <p:childTnLst>
                              <p:par>
                                <p:cTn id="10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0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5500"/>
                            </p:stCondLst>
                            <p:childTnLst>
                              <p:par>
                                <p:cTn id="10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0500"/>
                            </p:stCondLst>
                            <p:childTnLst>
                              <p:par>
                                <p:cTn id="1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5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955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500"/>
                            </p:stCondLst>
                            <p:childTnLst>
                              <p:par>
                                <p:cTn id="1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3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5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4" animBg="1"/>
      <p:bldP spid="69" grpId="0" animBg="1"/>
      <p:bldP spid="69" grpId="1" animBg="1"/>
      <p:bldP spid="71" grpId="0" animBg="1"/>
      <p:bldP spid="71" grpId="1" animBg="1"/>
      <p:bldP spid="39" grpId="0" animBg="1"/>
      <p:bldP spid="39" grpId="1" animBg="1"/>
      <p:bldP spid="70" grpId="0" animBg="1"/>
      <p:bldP spid="72" grpId="0" animBg="1"/>
      <p:bldP spid="73" grpId="0" animBg="1"/>
      <p:bldP spid="91" grpId="0" animBg="1"/>
      <p:bldP spid="92" grpId="0" animBg="1"/>
      <p:bldP spid="12" grpId="0" animBg="1"/>
      <p:bldP spid="198670" grpId="0" animBg="1"/>
      <p:bldP spid="68" grpId="0" animBg="1"/>
      <p:bldP spid="53" grpId="0" animBg="1"/>
      <p:bldP spid="53" grpId="1" animBg="1"/>
      <p:bldP spid="51" grpId="0" animBg="1"/>
      <p:bldP spid="45" grpId="0" animBg="1"/>
      <p:bldP spid="4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3" y="1900360"/>
            <a:ext cx="4956750" cy="295981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Les Étapes</a:t>
            </a:r>
            <a:endParaRPr lang="en-GB" sz="1049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57347" name="Picture 2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834" y="5589018"/>
            <a:ext cx="519816" cy="1886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374585" y="2239802"/>
          <a:ext cx="4661726" cy="3204937"/>
        </p:xfrm>
        <a:graphic>
          <a:graphicData uri="http://schemas.openxmlformats.org/drawingml/2006/table">
            <a:tbl>
              <a:tblPr/>
              <a:tblGrid>
                <a:gridCol w="54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34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Jour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Etapes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Remarques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Mardi 10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600" b="1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Vol</a:t>
                      </a:r>
                      <a:r>
                        <a:rPr lang="es-ES" sz="600" b="1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France - Cuba (Santiago de Cuba)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600" b="1" i="1" u="none" strike="noStrike" dirty="0" err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Mercredi 11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de Santiago de Cuba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600" b="0" i="1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Jeudi 12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Etape</a:t>
                      </a:r>
                      <a:r>
                        <a:rPr lang="es-ES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1 : Santiago de Cuba - </a:t>
                      </a:r>
                      <a:r>
                        <a:rPr lang="es-ES" sz="600" b="1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Chivirico</a:t>
                      </a:r>
                      <a:endParaRPr lang="es-ES" sz="6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78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Vendredi 13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Etape 2 : Chivirico - Pilon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111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Samedi 14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Etape 3 : Pilon - Niquero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39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Dimanche 15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Etape 4 : Niquero - Manzanillo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72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Lundi 16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Etape 5 : Manzanillo - Bayamo</a:t>
                      </a:r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fr-FR" sz="500" b="1" i="1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(via Yara)</a:t>
                      </a:r>
                      <a:endParaRPr lang="fr-FR" sz="600" b="1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67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Mardi 17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Etape 6 : Bayamo - Holguín 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72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Mercredi 18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Etape 7 : Holguín – </a:t>
                      </a:r>
                      <a:r>
                        <a:rPr lang="fr-FR" sz="600" b="1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Guardalavaca</a:t>
                      </a:r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(A/R)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110 kms (55 A/R)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Jeudi 19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  <a:r>
                        <a:rPr lang="es-ES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Holguín &gt;  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Sancti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Spiritus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(transfert)  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600" b="0" i="1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Vendredi 20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Etape 8 -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Sancti</a:t>
                      </a:r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Spiritus</a:t>
                      </a:r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- Trinidad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71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Samedi 21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 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chez 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Adelfo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(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Manaca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Iznaga</a:t>
                      </a:r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600" b="0" i="1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Dimanche 22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Etape 9 - Trinidad -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Manicaragua</a:t>
                      </a:r>
                      <a:endParaRPr lang="fr-FR" sz="600" b="1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61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Lundi 23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Etape 10 -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Manicaragua</a:t>
                      </a:r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-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Cascajal</a:t>
                      </a:r>
                      <a:endParaRPr lang="fr-FR" sz="600" b="1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99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Mardi 24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Etape 11 - </a:t>
                      </a:r>
                      <a:r>
                        <a:rPr lang="fr-FR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Cascajal</a:t>
                      </a:r>
                      <a:r>
                        <a:rPr lang="fr-FR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- Matanzas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123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Mercredi 25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s-ES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Etape</a:t>
                      </a:r>
                      <a:r>
                        <a:rPr lang="es-ES" sz="600" b="1" i="0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12 - Matanzas - La </a:t>
                      </a:r>
                      <a:r>
                        <a:rPr lang="es-ES" sz="600" b="1" i="0" u="none" strike="noStrike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Havane</a:t>
                      </a:r>
                      <a:endParaRPr lang="es-ES" sz="600" b="1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104 kms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Jeudi 26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Excursion à </a:t>
                      </a:r>
                      <a:r>
                        <a:rPr lang="fr-FR" sz="600" b="0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Viñales</a:t>
                      </a:r>
                      <a:endParaRPr lang="fr-FR" sz="600" b="0" i="1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b="0" i="1" u="none" strike="noStrike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600" b="0" i="1" u="none" strike="noStrike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Encore 1 journée de location de voiture</a:t>
                      </a:r>
                      <a:r>
                        <a:rPr lang="fr-FR" sz="600" b="0" i="1" u="none" strike="noStrike" kern="1200" baseline="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 !</a:t>
                      </a:r>
                      <a:endParaRPr lang="fr-FR" sz="600" b="0" i="1" u="none" strike="noStrike" kern="120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Vendredi 27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La Havane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600" b="0" i="1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Samedi 28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La Havane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600" b="0" i="1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Dimanche 29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La Havane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600" b="0" i="1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Lundi 30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Visite La Havane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600" b="0" i="1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9345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Mardi 31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600" b="1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Vol</a:t>
                      </a:r>
                      <a:r>
                        <a:rPr lang="es-ES" sz="600" b="1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Cuba (La </a:t>
                      </a:r>
                      <a:r>
                        <a:rPr lang="es-ES" sz="600" b="1" i="1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Havane</a:t>
                      </a:r>
                      <a:r>
                        <a:rPr lang="es-ES" sz="600" b="1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) - France</a:t>
                      </a: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es-ES" sz="600" b="0" i="1" u="none" strike="noStrike" kern="1200" dirty="0" err="1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21573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292552"/>
      </p:ext>
    </p:extLst>
  </p:cSld>
  <p:clrMapOvr>
    <a:masterClrMapping/>
  </p:clrMapOvr>
  <p:transition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3" y="1900360"/>
            <a:ext cx="4956750" cy="295981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Voiture suiveuse !</a:t>
            </a:r>
            <a:endParaRPr lang="en-GB" sz="1049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57347" name="Picture 2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834" y="5589018"/>
            <a:ext cx="519816" cy="1886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e 6"/>
          <p:cNvGrpSpPr/>
          <p:nvPr/>
        </p:nvGrpSpPr>
        <p:grpSpPr>
          <a:xfrm>
            <a:off x="499452" y="2656028"/>
            <a:ext cx="4453202" cy="1559455"/>
            <a:chOff x="857224" y="1928802"/>
            <a:chExt cx="7643159" cy="2676537"/>
          </a:xfrm>
        </p:grpSpPr>
        <p:pic>
          <p:nvPicPr>
            <p:cNvPr id="251906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7224" y="1928802"/>
              <a:ext cx="7643159" cy="267653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4714876" y="3786190"/>
              <a:ext cx="3357586" cy="78581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796"/>
            </a:p>
          </p:txBody>
        </p:sp>
      </p:grpSp>
    </p:spTree>
    <p:extLst>
      <p:ext uri="{BB962C8B-B14F-4D97-AF65-F5344CB8AC3E}">
        <p14:creationId xmlns:p14="http://schemas.microsoft.com/office/powerpoint/2010/main" val="2931292552"/>
      </p:ext>
    </p:extLst>
  </p:cSld>
  <p:clrMapOvr>
    <a:masterClrMapping/>
  </p:clrMapOvr>
  <p:transition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3277" tIns="26638" rIns="53277" bIns="266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Prévisions Météo </a:t>
            </a:r>
            <a:r>
              <a:rPr lang="fr-FR" sz="1049" dirty="0">
                <a:effectLst/>
                <a:latin typeface="Tahoma" charset="0"/>
                <a:ea typeface="MS PGothic" charset="0"/>
              </a:rPr>
              <a:t>du 28 avril au 9 mai</a:t>
            </a:r>
            <a:endParaRPr lang="en-GB" sz="1049" dirty="0">
              <a:effectLst/>
              <a:latin typeface="Tahoma" charset="0"/>
              <a:ea typeface="MS PGothic" charset="0"/>
            </a:endParaRPr>
          </a:p>
        </p:txBody>
      </p:sp>
      <p:grpSp>
        <p:nvGrpSpPr>
          <p:cNvPr id="53251" name="Groupe 11"/>
          <p:cNvGrpSpPr>
            <a:grpSpLocks/>
          </p:cNvGrpSpPr>
          <p:nvPr/>
        </p:nvGrpSpPr>
        <p:grpSpPr bwMode="auto">
          <a:xfrm>
            <a:off x="458770" y="2580191"/>
            <a:ext cx="4525728" cy="2416866"/>
            <a:chOff x="827226" y="1362780"/>
            <a:chExt cx="5819775" cy="2537873"/>
          </a:xfrm>
        </p:grpSpPr>
        <p:sp>
          <p:nvSpPr>
            <p:cNvPr id="53252" name="Text Box 6"/>
            <p:cNvSpPr txBox="1">
              <a:spLocks noChangeArrowheads="1"/>
            </p:cNvSpPr>
            <p:nvPr/>
          </p:nvSpPr>
          <p:spPr bwMode="auto">
            <a:xfrm>
              <a:off x="827226" y="1362780"/>
              <a:ext cx="1037898" cy="26649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505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fr-FR" sz="1049" b="0" i="1" dirty="0">
                  <a:solidFill>
                    <a:schemeClr val="bg1"/>
                  </a:solidFill>
                  <a:effectLst/>
                </a:rPr>
                <a:t>Toulouse</a:t>
              </a:r>
              <a:endParaRPr lang="en-GB" sz="1049" b="0" i="1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53253" name="Text Box 5"/>
            <p:cNvSpPr txBox="1">
              <a:spLocks noChangeArrowheads="1"/>
            </p:cNvSpPr>
            <p:nvPr/>
          </p:nvSpPr>
          <p:spPr bwMode="auto">
            <a:xfrm>
              <a:off x="827226" y="2779961"/>
              <a:ext cx="1041395" cy="26649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505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1pPr>
              <a:lvl2pPr marL="742950" indent="-28575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2pPr>
              <a:lvl3pPr marL="11430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3pPr>
              <a:lvl4pPr marL="16002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4pPr>
              <a:lvl5pPr marL="2057400" indent="-228600" eaLnBrk="0" hangingPunct="0"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800" b="1">
                  <a:solidFill>
                    <a:srgbClr val="FFFF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89900"/>
                      </a:outerShdw>
                    </a:cont>
                    <a:effect ref="fillLine"/>
                  </a:effectDag>
                  <a:latin typeface="Tahoma" charset="0"/>
                  <a:ea typeface="MS PGothic" charset="0"/>
                  <a:cs typeface="MS PGothic" charset="0"/>
                </a:defRPr>
              </a:lvl9pPr>
            </a:lstStyle>
            <a:p>
              <a:pPr eaLnBrk="1" hangingPunct="1"/>
              <a:r>
                <a:rPr lang="fr-FR" sz="1049" b="0" i="1" dirty="0">
                  <a:solidFill>
                    <a:schemeClr val="bg1"/>
                  </a:solidFill>
                  <a:effectLst/>
                </a:rPr>
                <a:t>La Havane</a:t>
              </a:r>
              <a:endParaRPr lang="en-GB" sz="1049" b="0" i="1" dirty="0">
                <a:solidFill>
                  <a:schemeClr val="bg1"/>
                </a:solidFill>
                <a:effectLst/>
              </a:endParaRPr>
            </a:p>
          </p:txBody>
        </p:sp>
        <p:pic>
          <p:nvPicPr>
            <p:cNvPr id="53254" name="Picture 10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26" y="1713755"/>
              <a:ext cx="5819775" cy="74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255" name="Picture 11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226" y="3148178"/>
              <a:ext cx="5819775" cy="752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3277" tIns="26638" rIns="53277" bIns="266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Etapes modifiées !</a:t>
            </a:r>
            <a:endParaRPr lang="en-GB" sz="1049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254978" name="Picture 2" descr="http://static.panoramio.com/photos/large/616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339" y="2614405"/>
            <a:ext cx="1540035" cy="10256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9" name="ZoneTexte 8"/>
          <p:cNvSpPr txBox="1"/>
          <p:nvPr/>
        </p:nvSpPr>
        <p:spPr>
          <a:xfrm>
            <a:off x="707565" y="3654970"/>
            <a:ext cx="771365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49" i="1" dirty="0" err="1">
                <a:effectLst/>
              </a:rPr>
              <a:t>Chivirico</a:t>
            </a:r>
            <a:endParaRPr lang="fr-FR" sz="1049" i="1" dirty="0">
              <a:effectLst/>
            </a:endParaRPr>
          </a:p>
        </p:txBody>
      </p:sp>
      <p:pic>
        <p:nvPicPr>
          <p:cNvPr id="254980" name="Picture 4" descr="http://www.routard.com/images_contenu/communaute/Photos/publi/109/pt10832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97864" y="2614406"/>
            <a:ext cx="1776773" cy="10260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1" name="ZoneTexte 10"/>
          <p:cNvSpPr txBox="1"/>
          <p:nvPr/>
        </p:nvSpPr>
        <p:spPr>
          <a:xfrm>
            <a:off x="2663405" y="3654970"/>
            <a:ext cx="522900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49" i="1" dirty="0">
                <a:effectLst/>
              </a:rPr>
              <a:t>Pilon</a:t>
            </a:r>
          </a:p>
        </p:txBody>
      </p:sp>
      <p:pic>
        <p:nvPicPr>
          <p:cNvPr id="254982" name="Picture 6" descr="https://media-cdn.tripadvisor.com/media/photo-s/05/9d/11/c2/hotel-niquero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54124" y="3072254"/>
            <a:ext cx="1040545" cy="15712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3" name="ZoneTexte 12"/>
          <p:cNvSpPr txBox="1"/>
          <p:nvPr/>
        </p:nvSpPr>
        <p:spPr>
          <a:xfrm>
            <a:off x="4152550" y="4653911"/>
            <a:ext cx="721672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49" i="1" dirty="0" err="1">
                <a:effectLst/>
              </a:rPr>
              <a:t>Niquero</a:t>
            </a:r>
            <a:endParaRPr lang="fr-FR" sz="1049" i="1" dirty="0">
              <a:effectLst/>
            </a:endParaRPr>
          </a:p>
        </p:txBody>
      </p:sp>
      <p:pic>
        <p:nvPicPr>
          <p:cNvPr id="254984" name="Picture 8" descr="http://static.panoramio.com/photos/large/46555869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2962" y="4154440"/>
            <a:ext cx="1634102" cy="10821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5" name="ZoneTexte 14"/>
          <p:cNvSpPr txBox="1"/>
          <p:nvPr/>
        </p:nvSpPr>
        <p:spPr>
          <a:xfrm>
            <a:off x="624320" y="5236627"/>
            <a:ext cx="912429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49" i="1" dirty="0">
                <a:effectLst/>
              </a:rPr>
              <a:t>Manzanillo</a:t>
            </a:r>
          </a:p>
        </p:txBody>
      </p:sp>
      <p:sp>
        <p:nvSpPr>
          <p:cNvPr id="254986" name="AutoShape 10" descr="https://tse1.mm.bing.net/th?id=OIP.M08bb00b0fcd3da601abd346c0445be4do0&amp;pid=15.1&amp;P=0&amp;w=222&amp;h=168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sp>
        <p:nvSpPr>
          <p:cNvPr id="254988" name="AutoShape 12" descr="https://tse1.mm.bing.net/th?id=OIP.M08bb00b0fcd3da601abd346c0445be4do0&amp;pid=15.1&amp;P=0&amp;w=222&amp;h=168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sp>
        <p:nvSpPr>
          <p:cNvPr id="254990" name="AutoShape 14" descr="https://tse4.mm.bing.net/th?id=OIP.M15359ff928afb9ad9a6de68fdf42a006o0&amp;pid=15.1&amp;P=0&amp;w=247&amp;h=166"/>
          <p:cNvSpPr>
            <a:spLocks noChangeAspect="1" noChangeArrowheads="1"/>
          </p:cNvSpPr>
          <p:nvPr/>
        </p:nvSpPr>
        <p:spPr bwMode="auto">
          <a:xfrm>
            <a:off x="90644" y="1697799"/>
            <a:ext cx="177588" cy="177589"/>
          </a:xfrm>
          <a:prstGeom prst="rect">
            <a:avLst/>
          </a:prstGeom>
          <a:noFill/>
        </p:spPr>
        <p:txBody>
          <a:bodyPr vert="horz" wrap="square" lIns="53277" tIns="26638" rIns="53277" bIns="26638" numCol="1" anchor="t" anchorCtr="0" compatLnSpc="1">
            <a:prstTxWarp prst="textNoShape">
              <a:avLst/>
            </a:prstTxWarp>
          </a:bodyPr>
          <a:lstStyle/>
          <a:p>
            <a:endParaRPr lang="fr-FR" sz="2796"/>
          </a:p>
        </p:txBody>
      </p:sp>
      <p:pic>
        <p:nvPicPr>
          <p:cNvPr id="233474" name="Picture 2" descr="Résultat de recherche d'images pour &quot;photos bayamo&quot;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67573" y="4154440"/>
            <a:ext cx="1437356" cy="10766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6" name="ZoneTexte 15"/>
          <p:cNvSpPr txBox="1"/>
          <p:nvPr/>
        </p:nvSpPr>
        <p:spPr>
          <a:xfrm>
            <a:off x="2561602" y="5236627"/>
            <a:ext cx="72648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49" i="1" dirty="0">
                <a:effectLst/>
              </a:rPr>
              <a:t>Bayamo</a:t>
            </a:r>
          </a:p>
        </p:txBody>
      </p:sp>
    </p:spTree>
  </p:cSld>
  <p:clrMapOvr>
    <a:masterClrMapping/>
  </p:clrMapOvr>
  <p:transition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22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7 - Mercredi 18 Janvier :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Holguín –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Guardalavaca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(A/R) 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320992"/>
              </p:ext>
            </p:extLst>
          </p:nvPr>
        </p:nvGraphicFramePr>
        <p:xfrm>
          <a:off x="317798" y="2392320"/>
          <a:ext cx="4905388" cy="23619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55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Guardalavaca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Holguín (150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</a:t>
                      </a: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Bonne route avec circulation normale</a:t>
                      </a: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Pas de difficulté majeure, légèrement vallonné !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344071"/>
      </p:ext>
    </p:extLst>
  </p:cSld>
  <p:clrMapOvr>
    <a:masterClrMapping/>
  </p:clrMapOvr>
  <p:transition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23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Transfert - Jeudi 19 : 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Holguín -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Sancti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Spíritus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57010"/>
              </p:ext>
            </p:extLst>
          </p:nvPr>
        </p:nvGraphicFramePr>
        <p:xfrm>
          <a:off x="317798" y="2392320"/>
          <a:ext cx="4905388" cy="2717086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08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Journée de transfert : Holguín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Sancti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Spíritus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(1 jour) via Camagüey </a:t>
                      </a: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Déjeuner au Patio de Camagüey (en face de la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Cubana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Aviación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Nuit à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Sancti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Spíritus</a:t>
                      </a: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892528"/>
      </p:ext>
    </p:extLst>
  </p:cSld>
  <p:clrMapOvr>
    <a:masterClrMapping/>
  </p:clrMapOvr>
  <p:transition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24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8 – Vendredi  20 Janvier :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Sancti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Spíritus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- Trinidad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21776"/>
              </p:ext>
            </p:extLst>
          </p:nvPr>
        </p:nvGraphicFramePr>
        <p:xfrm>
          <a:off x="317798" y="2392320"/>
          <a:ext cx="4905388" cy="34274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74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63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Sancti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Spíritus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(65 m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Trinidad (65 m)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Succession de petites bosses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 les 20 premiers kms, circulation assez soutenue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Bonne route, sauf sur les 20 kilomètres avant l’arrivée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90462"/>
      </p:ext>
    </p:extLst>
  </p:cSld>
  <p:clrMapOvr>
    <a:masterClrMapping/>
  </p:clrMapOvr>
  <p:transition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25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9 – Dimanche 22 Janvier : 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Trinidad -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Manicaragua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851292"/>
              </p:ext>
            </p:extLst>
          </p:nvPr>
        </p:nvGraphicFramePr>
        <p:xfrm>
          <a:off x="317798" y="2392320"/>
          <a:ext cx="4905388" cy="2894675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946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79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Trinidad (65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Manicaragua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(210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Jusqu’à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Trinidad, la route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inégale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Sur la route de Topes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Collantes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très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fort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pourcentage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3,5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(km 30) et r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oute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en cours de réparation jusqu’au Mirador (540 m)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Au km 34, nouvelle élévation sur 3,4 km (740 m). La montée continue jusqu’à la sortie de Topes de Collantes au km 42 (810 m). Route à peu près bonne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Descentes et montées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km 51 puis longue descente sur 7 km sur un excellent revêtement au début, puis bonne route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Vers le km 59, piste caillouteuse sur 800 m puis bonne route. A partir de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Jibacoa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jusqu’à l’arrivée (18 km) bonne route (quelques bosses).</a:t>
                      </a: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895988"/>
      </p:ext>
    </p:extLst>
  </p:cSld>
  <p:clrMapOvr>
    <a:masterClrMapping/>
  </p:clrMapOvr>
  <p:transition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26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10 – Lundi 23 Janvier :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Manicaragua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-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Cascajal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12091"/>
              </p:ext>
            </p:extLst>
          </p:nvPr>
        </p:nvGraphicFramePr>
        <p:xfrm>
          <a:off x="317798" y="2392320"/>
          <a:ext cx="4905388" cy="23619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103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Manicaragua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(210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Cascajal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(90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A la sortie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Manicaragua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bonne route sans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difficultés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. Au km 22,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prendre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3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voies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(direction La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Havane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270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puis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6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voies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partir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du km 30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jusqu’à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hauteur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Ranchuelo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(km 42).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Prendre à droite puis à gauche, direction Esperanza. Route à peu peu normale sur 8 kms, puis plutôt bonne ensuite sur plat et faux-plats descendants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Santo Domingo (km 73)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Route à peu près convenable jusqu’à l’arrivée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510791"/>
      </p:ext>
    </p:extLst>
  </p:cSld>
  <p:clrMapOvr>
    <a:masterClrMapping/>
  </p:clrMapOvr>
  <p:transition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27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11 – Mardi 24 Janvier : </a:t>
            </a:r>
            <a:r>
              <a:rPr lang="fr-FR" sz="1398" dirty="0" err="1">
                <a:effectLst/>
                <a:latin typeface="Tahoma" charset="0"/>
                <a:ea typeface="MS PGothic" charset="0"/>
                <a:sym typeface="Wingdings"/>
              </a:rPr>
              <a:t>Cascajal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 - Matanzas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93631"/>
              </p:ext>
            </p:extLst>
          </p:nvPr>
        </p:nvGraphicFramePr>
        <p:xfrm>
          <a:off x="317798" y="2392320"/>
          <a:ext cx="4905388" cy="23619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120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Cascajal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(90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Matanzas (0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Route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normale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plat, avec circulation plus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accentuée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vers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fin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l’étape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.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Parcours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long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dans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paysage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monotone et un vent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côté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droit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).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506958"/>
      </p:ext>
    </p:extLst>
  </p:cSld>
  <p:clrMapOvr>
    <a:masterClrMapping/>
  </p:clrMapOvr>
  <p:transition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28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932" dirty="0">
                <a:effectLst/>
                <a:latin typeface="Tahoma" charset="0"/>
                <a:ea typeface="MS PGothic" charset="0"/>
              </a:rPr>
              <a:t>Etape 12 – Mercredi 25 Janvier : </a:t>
            </a:r>
            <a:r>
              <a:rPr lang="fr-FR" sz="1398" dirty="0">
                <a:effectLst/>
                <a:latin typeface="Tahoma" charset="0"/>
                <a:ea typeface="MS PGothic" charset="0"/>
                <a:sym typeface="Wingdings"/>
              </a:rPr>
              <a:t>Matanzas - La Havane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50600"/>
              </p:ext>
            </p:extLst>
          </p:nvPr>
        </p:nvGraphicFramePr>
        <p:xfrm>
          <a:off x="317798" y="2392320"/>
          <a:ext cx="4905388" cy="23619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109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kms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Matanzas (0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La Havane (0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m)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Route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excellente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plusieurs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voies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selon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secteur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Circulation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soutenue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  <a:sym typeface="Wingdings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18756"/>
      </p:ext>
    </p:extLst>
  </p:cSld>
  <p:clrMapOvr>
    <a:masterClrMapping/>
  </p:clrMapOvr>
  <p:transition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7"/>
          <p:cNvSpPr txBox="1">
            <a:spLocks noGrp="1"/>
          </p:cNvSpPr>
          <p:nvPr/>
        </p:nvSpPr>
        <p:spPr bwMode="auto">
          <a:xfrm>
            <a:off x="4084532" y="5500224"/>
            <a:ext cx="1243118" cy="27748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FFCC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97A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algn="r" eaLnBrk="1" hangingPunct="1">
              <a:defRPr/>
            </a:pPr>
            <a:fld id="{CACB5B3D-64AC-AF4E-B965-A70FEE8AF3BC}" type="slidenum">
              <a:rPr lang="en-GB" sz="699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charset="0"/>
              </a:rPr>
              <a:pPr algn="r" eaLnBrk="1" hangingPunct="1">
                <a:defRPr/>
              </a:pPr>
              <a:t>29</a:t>
            </a:fld>
            <a:endParaRPr lang="en-GB" sz="699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charset="0"/>
            </a:endParaRP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222911" y="1959556"/>
            <a:ext cx="4794885" cy="295981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Logement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22883" name="Picture 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874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26136"/>
              </p:ext>
            </p:extLst>
          </p:nvPr>
        </p:nvGraphicFramePr>
        <p:xfrm>
          <a:off x="317798" y="2392320"/>
          <a:ext cx="4905388" cy="2361940"/>
        </p:xfrm>
        <a:graphic>
          <a:graphicData uri="http://schemas.openxmlformats.org/drawingml/2006/table">
            <a:tbl>
              <a:tblPr/>
              <a:tblGrid>
                <a:gridCol w="490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23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nuits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chez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l’habitant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Base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Chambre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double </a:t>
                      </a:r>
                      <a:r>
                        <a:rPr kumimoji="0" lang="en-GB" sz="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(matrimonial </a:t>
                      </a:r>
                      <a:r>
                        <a:rPr kumimoji="0" lang="en-GB" sz="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sz="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twin)</a:t>
                      </a:r>
                      <a:endParaRPr kumimoji="0" lang="en-GB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Petit-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déjeuner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place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Possibilité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dîner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dans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certaines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« casas »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1" marB="26631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412992"/>
      </p:ext>
    </p:extLst>
  </p:cSld>
  <p:clrMapOvr>
    <a:masterClrMapping/>
  </p:clrMapOvr>
  <p:transition>
    <p:wedg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Informations diverses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29716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675473"/>
              </p:ext>
            </p:extLst>
          </p:nvPr>
        </p:nvGraphicFramePr>
        <p:xfrm>
          <a:off x="328534" y="2177761"/>
          <a:ext cx="4883679" cy="3143009"/>
        </p:xfrm>
        <a:graphic>
          <a:graphicData uri="http://schemas.openxmlformats.org/drawingml/2006/table">
            <a:tbl>
              <a:tblPr/>
              <a:tblGrid>
                <a:gridCol w="488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300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Passeport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valable 6 mois après la date de retour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Carte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tourisme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- Pas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vaccins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Faire photocopies (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scan) du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passeport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CI,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permis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conduire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etc.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langue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officielle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</a:t>
                      </a: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’</a:t>
                      </a:r>
                      <a:r>
                        <a:rPr kumimoji="0" lang="en-GB" altLang="ja-JP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espagnol</a:t>
                      </a:r>
                      <a:endParaRPr kumimoji="0" lang="en-GB" altLang="ja-JP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Décalage horaire : - 6 heures </a:t>
                      </a:r>
                      <a:r>
                        <a:rPr kumimoji="0" lang="fr-FR" sz="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(12 h 00 à Paris, 6 h 00 à La Havane)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L'eau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potable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bonne et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propre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consommation</a:t>
                      </a:r>
                      <a:endParaRPr kumimoji="0" lang="en-GB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repas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du midi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sont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pris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ensemble</a:t>
                      </a:r>
                      <a:endParaRPr kumimoji="0" lang="en-GB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repas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du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soir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libres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sauf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3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10" marB="2661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5173" name="Picture 8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/>
          <p:cNvCxnSpPr/>
          <p:nvPr/>
        </p:nvCxnSpPr>
        <p:spPr>
          <a:xfrm rot="18949158">
            <a:off x="3798161" y="3974589"/>
            <a:ext cx="0" cy="373121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217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Argent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sp>
        <p:nvSpPr>
          <p:cNvPr id="137218" name="Rectangle 52"/>
          <p:cNvSpPr>
            <a:spLocks noChangeArrowheads="1"/>
          </p:cNvSpPr>
          <p:nvPr/>
        </p:nvSpPr>
        <p:spPr bwMode="auto">
          <a:xfrm>
            <a:off x="608047" y="3150517"/>
            <a:ext cx="4258398" cy="261086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583" b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32781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49127"/>
              </p:ext>
            </p:extLst>
          </p:nvPr>
        </p:nvGraphicFramePr>
        <p:xfrm>
          <a:off x="20681" y="2332401"/>
          <a:ext cx="5306969" cy="3090001"/>
        </p:xfrm>
        <a:graphic>
          <a:graphicData uri="http://schemas.openxmlformats.org/drawingml/2006/table">
            <a:tbl>
              <a:tblPr/>
              <a:tblGrid>
                <a:gridCol w="5306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6487">
                <a:tc>
                  <a:txBody>
                    <a:bodyPr/>
                    <a:lstStyle/>
                    <a:p>
                      <a:pPr marL="1257300" marR="0" lvl="2" indent="-3429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Arial"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Monnaie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Pesos convertibles (CUC) et Pesos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cubains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</a:t>
                      </a:r>
                    </a:p>
                    <a:p>
                      <a:pPr marL="1657350" marR="0" lvl="3" indent="-285750" algn="l" defTabSz="914400" rtl="0" eaLnBrk="1" fontAlgn="b" latinLnBrk="0" hangingPunct="1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charset="2"/>
                        <a:buChar char="Ø"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 CUC ($ </a:t>
                      </a: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ja-JP" altLang="en-GB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“</a:t>
                      </a:r>
                      <a:r>
                        <a:rPr kumimoji="0" lang="en-GB" altLang="ja-JP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divisa</a:t>
                      </a:r>
                      <a:r>
                        <a:rPr kumimoji="0" lang="ja-JP" altLang="en-GB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”</a:t>
                      </a:r>
                      <a:r>
                        <a:rPr kumimoji="0" lang="en-GB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 = 24 pesos </a:t>
                      </a:r>
                      <a:r>
                        <a:rPr kumimoji="0" lang="en-GB" altLang="ja-JP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cubain</a:t>
                      </a:r>
                      <a:r>
                        <a:rPr kumimoji="0" lang="en-GB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($</a:t>
                      </a:r>
                      <a:r>
                        <a:rPr kumimoji="0" lang="en-GB" altLang="ja-JP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Mn</a:t>
                      </a:r>
                      <a:r>
                        <a:rPr kumimoji="0" lang="en-GB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ja-JP" alt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“</a:t>
                      </a:r>
                      <a:r>
                        <a:rPr kumimoji="0" lang="en-GB" altLang="ja-JP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moneda</a:t>
                      </a:r>
                      <a:r>
                        <a:rPr kumimoji="0" lang="en-GB" altLang="ja-JP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nacional</a:t>
                      </a:r>
                      <a:r>
                        <a:rPr kumimoji="0" lang="ja-JP" alt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”</a:t>
                      </a:r>
                      <a:r>
                        <a:rPr kumimoji="0" lang="en-GB" altLang="ja-JP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</a:p>
                    <a:p>
                      <a:pPr marL="1657350" marR="0" lvl="3" indent="-285750" algn="l" defTabSz="914400" rtl="0" eaLnBrk="1" fontAlgn="b" latinLnBrk="0" hangingPunct="1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charset="2"/>
                        <a:buChar char="Ø"/>
                        <a:tabLst/>
                      </a:pPr>
                      <a:r>
                        <a:rPr kumimoji="0" lang="en-GB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1 € =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1,04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CUC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(change au 26/12/2016)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1371600" marR="0" lvl="3" indent="0" algn="r" defTabSz="914400" rtl="0" eaLnBrk="1" fontAlgn="b" latinLnBrk="0" hangingPunct="1">
                        <a:lnSpc>
                          <a:spcPct val="1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fr-FR" sz="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http://www.bc.gob.cu/Espanol/tipo_cambio_METROPOLITANO.asp</a:t>
                      </a:r>
                      <a:endParaRPr kumimoji="0" lang="en-GB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1257300" marR="0" lvl="2" indent="-3429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Distributeurs automatiques (CUC)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commission </a:t>
                      </a: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3 %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sur montant en $US</a:t>
                      </a:r>
                    </a:p>
                    <a:p>
                      <a:pPr marL="5467350" marR="0" lvl="8" indent="-3556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Char char="Ø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Cartes de crédit US !!!</a:t>
                      </a:r>
                    </a:p>
                    <a:p>
                      <a:pPr marL="5467350" marR="0" lvl="8" indent="-3556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Char char="Ø"/>
                        <a:tabLst/>
                        <a:defRPr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1257300" marR="0" lvl="2" indent="-3429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Change €/CUC/Mn : Banques et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CADECAs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fr-FR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sas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mbio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</a:p>
                    <a:p>
                      <a:pPr marL="1257300" marR="0" lvl="2" indent="-34290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FR" sz="12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Conseil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ne pas changer à l’aéroport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ni dans la rue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!</a:t>
                      </a:r>
                    </a:p>
                  </a:txBody>
                  <a:tcPr marL="53277" marR="53277" marT="26620" marB="2662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839" name="Picture 47"/>
          <p:cNvSpPr>
            <a:spLocks noChangeAspect="1" noChangeArrowheads="1"/>
          </p:cNvSpPr>
          <p:nvPr/>
        </p:nvSpPr>
        <p:spPr bwMode="auto">
          <a:xfrm>
            <a:off x="495767" y="2366530"/>
            <a:ext cx="3751554" cy="370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2796">
              <a:latin typeface="Tahoma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137223" name="Picture 4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necteur droit 7"/>
          <p:cNvCxnSpPr/>
          <p:nvPr/>
        </p:nvCxnSpPr>
        <p:spPr>
          <a:xfrm rot="18949158">
            <a:off x="3609365" y="4161149"/>
            <a:ext cx="377592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8" descr="Monnaie Cuba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4439">
            <a:off x="1313196" y="4106418"/>
            <a:ext cx="720413" cy="482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Quelques prix…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18875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581419"/>
              </p:ext>
            </p:extLst>
          </p:nvPr>
        </p:nvGraphicFramePr>
        <p:xfrm>
          <a:off x="183791" y="1982898"/>
          <a:ext cx="5000222" cy="3072648"/>
        </p:xfrm>
        <a:graphic>
          <a:graphicData uri="http://schemas.openxmlformats.org/drawingml/2006/table">
            <a:tbl>
              <a:tblPr/>
              <a:tblGrid>
                <a:gridCol w="5000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Cubataxi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une course d’un quartier à l’autre (taxis jaunes ou blancs) : 7 CUC - Prise en charge : 1 CUC - </a:t>
                      </a:r>
                      <a:r>
                        <a:rPr kumimoji="0" lang="fr-F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Bicitaxi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5 CUC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taxis collectifs (vieilles voitures américaines) et bus de ville très bon marché mais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difficiles à « gérer » pour un étranger (10 et 0,40 $Mn)</a:t>
                      </a:r>
                      <a:endParaRPr kumimoji="0" lang="fr-FR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manger à la cubaine, c’est aussi manger … dans la rue ! Une « pizza » à 15 $Mn, une boisson à 1 $Mn, 1 cornet de cacahuètes 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</a:t>
                      </a:r>
                      <a:r>
                        <a:rPr kumimoji="0" lang="fr-FR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maní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à 1 $Mn, …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… et au Restaurant ou </a:t>
                      </a:r>
                      <a:r>
                        <a:rPr kumimoji="0" lang="fr-FR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Paladar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de 10 à 35 CUC !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…mais l’entrée à la </a:t>
                      </a:r>
                      <a:r>
                        <a:rPr kumimoji="0" lang="fr-FR" sz="12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Discotemba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Victoria, 3 CUC </a:t>
                      </a:r>
                      <a:r>
                        <a:rPr kumimoji="0" lang="fr-FR" sz="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(bière à 1,50 CUC !)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9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9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Attention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signe monétaire identique ($) pour le CUC, Dollar et Peso cubain !</a:t>
                      </a: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42" marB="2664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9268" name="Picture 8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… mais attention à une inflation mal maîtrisée ! </a:t>
            </a:r>
            <a:r>
              <a:rPr lang="fr-FR" sz="1398" i="0" dirty="0">
                <a:solidFill>
                  <a:srgbClr val="FF0000"/>
                </a:solidFill>
                <a:effectLst/>
                <a:latin typeface="Tahoma" charset="0"/>
                <a:ea typeface="MS PGothic" charset="0"/>
                <a:sym typeface="Wingdings" charset="0"/>
              </a:rPr>
              <a:t></a:t>
            </a:r>
            <a:endParaRPr lang="en-GB" sz="1398" i="0" dirty="0">
              <a:solidFill>
                <a:srgbClr val="FF0000"/>
              </a:solidFill>
              <a:effectLst/>
              <a:latin typeface="Tahoma" charset="0"/>
              <a:ea typeface="MS PGothic" charset="0"/>
              <a:sym typeface="Wingdings" charset="0"/>
            </a:endParaRPr>
          </a:p>
        </p:txBody>
      </p:sp>
      <p:sp>
        <p:nvSpPr>
          <p:cNvPr id="141314" name="Rectangle 6"/>
          <p:cNvSpPr>
            <a:spLocks noChangeArrowheads="1"/>
          </p:cNvSpPr>
          <p:nvPr/>
        </p:nvSpPr>
        <p:spPr bwMode="auto">
          <a:xfrm>
            <a:off x="377296" y="2437288"/>
            <a:ext cx="4786941" cy="2829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fontAlgn="b">
              <a:lnSpc>
                <a:spcPct val="200000"/>
              </a:lnSpc>
              <a:buFontTx/>
              <a:buChar char="•"/>
            </a:pPr>
            <a:endParaRPr lang="en-GB" sz="1165" b="0" dirty="0">
              <a:solidFill>
                <a:srgbClr val="000000"/>
              </a:solidFill>
              <a:effectLst/>
            </a:endParaRPr>
          </a:p>
          <a:p>
            <a:pPr fontAlgn="b"/>
            <a:r>
              <a:rPr lang="fr-FR" sz="1165" b="0" i="1" dirty="0">
                <a:solidFill>
                  <a:srgbClr val="000000"/>
                </a:solidFill>
                <a:effectLst/>
              </a:rPr>
              <a:t>… sur les 12 derniers mois : </a:t>
            </a:r>
          </a:p>
          <a:p>
            <a:pPr fontAlgn="b">
              <a:buFontTx/>
              <a:buChar char="•"/>
            </a:pPr>
            <a:endParaRPr lang="fr-FR" sz="1165" b="0" i="1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Une bière nationale : 1,50 CUC 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(</a:t>
            </a:r>
            <a:r>
              <a:rPr lang="fr-FR" sz="1165" b="0" dirty="0">
                <a:solidFill>
                  <a:srgbClr val="CC0000"/>
                </a:solidFill>
                <a:effectLst/>
                <a:sym typeface="Wingdings" charset="0"/>
              </a:rPr>
              <a:t>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 de 25 %)</a:t>
            </a: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Rhum et Cigares : </a:t>
            </a:r>
            <a:r>
              <a:rPr lang="fr-FR" sz="1165" b="0" dirty="0">
                <a:solidFill>
                  <a:srgbClr val="CC0000"/>
                </a:solidFill>
                <a:effectLst/>
                <a:sym typeface="Wingdings" charset="0"/>
              </a:rPr>
              <a:t>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 de 15 %</a:t>
            </a: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solidFill>
                <a:srgbClr val="CC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Restauration </a:t>
            </a:r>
            <a:r>
              <a:rPr lang="fr-FR" sz="1165" b="0" i="1" dirty="0">
                <a:solidFill>
                  <a:srgbClr val="000000"/>
                </a:solidFill>
                <a:effectLst/>
              </a:rPr>
              <a:t>(</a:t>
            </a:r>
            <a:r>
              <a:rPr lang="fr-FR" sz="1165" b="0" i="1" dirty="0" err="1">
                <a:solidFill>
                  <a:srgbClr val="000000"/>
                </a:solidFill>
                <a:effectLst/>
              </a:rPr>
              <a:t>paladar</a:t>
            </a:r>
            <a:r>
              <a:rPr lang="fr-FR" sz="1165" b="0" i="1" dirty="0">
                <a:solidFill>
                  <a:srgbClr val="000000"/>
                </a:solidFill>
                <a:effectLst/>
              </a:rPr>
              <a:t>) </a:t>
            </a:r>
            <a:r>
              <a:rPr lang="fr-FR" sz="1165" b="0" dirty="0">
                <a:solidFill>
                  <a:srgbClr val="000000"/>
                </a:solidFill>
                <a:effectLst/>
              </a:rPr>
              <a:t>: </a:t>
            </a:r>
            <a:r>
              <a:rPr lang="fr-FR" sz="1165" b="0" dirty="0">
                <a:solidFill>
                  <a:srgbClr val="CC0000"/>
                </a:solidFill>
                <a:effectLst/>
                <a:sym typeface="Wingdings" charset="0"/>
              </a:rPr>
              <a:t>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 de 20 %</a:t>
            </a:r>
          </a:p>
          <a:p>
            <a:pPr fontAlgn="b">
              <a:lnSpc>
                <a:spcPct val="80000"/>
              </a:lnSpc>
            </a:pPr>
            <a:endParaRPr lang="fr-FR" sz="1165" b="0" dirty="0">
              <a:solidFill>
                <a:srgbClr val="CC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Un litre d’essence : 1,10 CUC 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(</a:t>
            </a:r>
            <a:r>
              <a:rPr lang="fr-FR" sz="1165" b="0" dirty="0">
                <a:solidFill>
                  <a:srgbClr val="CC0000"/>
                </a:solidFill>
                <a:effectLst/>
                <a:sym typeface="Wingdings" charset="0"/>
              </a:rPr>
              <a:t></a:t>
            </a:r>
            <a:r>
              <a:rPr lang="fr-FR" sz="1165" b="0" dirty="0">
                <a:solidFill>
                  <a:srgbClr val="CC0000"/>
                </a:solidFill>
                <a:effectLst/>
              </a:rPr>
              <a:t> de 45 %)</a:t>
            </a: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solidFill>
                <a:srgbClr val="CC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solidFill>
                <a:srgbClr val="CC0000"/>
              </a:solidFill>
              <a:effectLst/>
            </a:endParaRPr>
          </a:p>
          <a:p>
            <a:pPr lvl="1" fontAlgn="b">
              <a:lnSpc>
                <a:spcPct val="80000"/>
              </a:lnSpc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Taxe de 10 % sur l’€uro et le $US</a:t>
            </a:r>
          </a:p>
          <a:p>
            <a:pPr fontAlgn="b">
              <a:lnSpc>
                <a:spcPct val="80000"/>
              </a:lnSpc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80000"/>
              </a:lnSpc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1" fontAlgn="b"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et depuis 2014, </a:t>
            </a:r>
            <a:r>
              <a:rPr lang="fr-FR" sz="1165" i="1" dirty="0">
                <a:solidFill>
                  <a:srgbClr val="000000"/>
                </a:solidFill>
                <a:effectLst/>
              </a:rPr>
              <a:t>une très </a:t>
            </a:r>
            <a:r>
              <a:rPr lang="fr-FR" sz="1165" i="1">
                <a:solidFill>
                  <a:srgbClr val="000000"/>
                </a:solidFill>
                <a:effectLst/>
              </a:rPr>
              <a:t>forte dévaluation de </a:t>
            </a:r>
            <a:r>
              <a:rPr lang="fr-FR" sz="1165" i="1" dirty="0">
                <a:solidFill>
                  <a:srgbClr val="000000"/>
                </a:solidFill>
                <a:effectLst/>
              </a:rPr>
              <a:t>l’€uro par rapport au $US</a:t>
            </a:r>
            <a:r>
              <a:rPr lang="fr-FR" sz="1165" b="0" i="1" dirty="0">
                <a:solidFill>
                  <a:srgbClr val="000000"/>
                </a:solidFill>
                <a:effectLst/>
              </a:rPr>
              <a:t> </a:t>
            </a:r>
            <a:r>
              <a:rPr lang="fr-FR" sz="1165" b="0" dirty="0">
                <a:solidFill>
                  <a:srgbClr val="000000"/>
                </a:solidFill>
                <a:effectLst/>
              </a:rPr>
              <a:t>!!!</a:t>
            </a:r>
            <a:endParaRPr lang="fr-FR" sz="1165" b="0" dirty="0">
              <a:solidFill>
                <a:srgbClr val="FF0000"/>
              </a:solidFill>
              <a:effectLst/>
              <a:latin typeface="Arial" charset="0"/>
            </a:endParaRPr>
          </a:p>
          <a:p>
            <a:pPr fontAlgn="b">
              <a:buFontTx/>
              <a:buChar char="•"/>
            </a:pPr>
            <a:endParaRPr lang="fr-FR" sz="1165" b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41315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Pratique (1/2)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47526" name="Group 7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209368281"/>
              </p:ext>
            </p:extLst>
          </p:nvPr>
        </p:nvGraphicFramePr>
        <p:xfrm>
          <a:off x="0" y="2427576"/>
          <a:ext cx="5327650" cy="2903497"/>
        </p:xfrm>
        <a:graphic>
          <a:graphicData uri="http://schemas.openxmlformats.org/drawingml/2006/table">
            <a:tbl>
              <a:tblPr/>
              <a:tblGrid>
                <a:gridCol w="532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3497">
                <a:tc>
                  <a:txBody>
                    <a:bodyPr/>
                    <a:lstStyle/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Carton de transport de vélo (paiement à l’aéroport)</a:t>
                      </a:r>
                      <a:endParaRPr kumimoji="0" lang="fr-FR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Prises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cubaines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norme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américaine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double plat)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1828800" marR="0" lvl="4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110 V/220 V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  <a:defRPr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Bornes indicatrices de rue : au sol à l’angle de deux rues !</a:t>
                      </a:r>
                    </a:p>
                    <a:p>
                      <a:pPr marL="1371600" marR="0" lvl="3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charset="0"/>
                        <a:buChar char="Ø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comment lire une adresse ?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c/ 23 # 251 e/ I y J</a:t>
                      </a:r>
                    </a:p>
                    <a:p>
                      <a:pPr marL="1371600" marR="0" lvl="3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 typeface="Wingdings" charset="0"/>
                        <a:buChar char="Ø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dans la rue 23, n° 251, entre les rues I et J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Cartes de téléphone prépayées (5, 10 ou 20 CUC : 1 CUC/min.)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Pour appeler en France : 119 33 + n°(sans le 0) 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 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env. 8 CUC/mn !</a:t>
                      </a:r>
                      <a:endParaRPr kumimoji="0" lang="en-GB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02" marB="2660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364" name="Picture 5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 descr="P1240457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234" y="3150517"/>
            <a:ext cx="739891" cy="554919"/>
          </a:xfrm>
          <a:prstGeom prst="rect">
            <a:avLst/>
          </a:prstGeom>
        </p:spPr>
      </p:pic>
    </p:spTree>
  </p:cSld>
  <p:clrMapOvr>
    <a:masterClrMapping/>
  </p:clrMapOvr>
  <p:transition>
    <p:wedg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Pratique (2/2)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45412" name="Picture 1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373526" y="4945269"/>
            <a:ext cx="2538976" cy="666208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2" fontAlgn="b">
              <a:buClr>
                <a:schemeClr val="bg1"/>
              </a:buClr>
              <a:buSzPct val="120000"/>
            </a:pPr>
            <a:r>
              <a:rPr lang="en-GB" sz="816" i="1" dirty="0" err="1">
                <a:effectLst/>
              </a:rPr>
              <a:t>Ambassade</a:t>
            </a:r>
            <a:r>
              <a:rPr lang="en-GB" sz="816" i="1" dirty="0">
                <a:effectLst/>
              </a:rPr>
              <a:t> de France </a:t>
            </a:r>
            <a:r>
              <a:rPr lang="en-GB" sz="816" i="1" dirty="0" err="1">
                <a:effectLst/>
              </a:rPr>
              <a:t>à</a:t>
            </a:r>
            <a:r>
              <a:rPr lang="en-GB" sz="816" i="1" dirty="0">
                <a:effectLst/>
              </a:rPr>
              <a:t> La </a:t>
            </a:r>
            <a:r>
              <a:rPr lang="en-GB" sz="816" i="1" dirty="0" err="1">
                <a:effectLst/>
              </a:rPr>
              <a:t>Havane</a:t>
            </a:r>
            <a:endParaRPr lang="en-GB" sz="816" i="1" dirty="0">
              <a:effectLst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effectLst/>
            </a:endParaRPr>
          </a:p>
          <a:p>
            <a:pPr lvl="2" fontAlgn="b">
              <a:buClr>
                <a:schemeClr val="bg1"/>
              </a:buClr>
              <a:buSzPct val="120000"/>
            </a:pPr>
            <a:r>
              <a:rPr lang="en-GB" sz="699" b="0" i="1" dirty="0" err="1">
                <a:effectLst/>
              </a:rPr>
              <a:t>Calle</a:t>
            </a:r>
            <a:r>
              <a:rPr lang="en-GB" sz="699" b="0" i="1" dirty="0">
                <a:effectLst/>
              </a:rPr>
              <a:t> 14, n° 312 entre 5</a:t>
            </a:r>
            <a:r>
              <a:rPr lang="en-GB" sz="699" b="0" i="1" baseline="30000" dirty="0">
                <a:effectLst/>
              </a:rPr>
              <a:t>ta</a:t>
            </a:r>
            <a:r>
              <a:rPr lang="en-GB" sz="699" b="0" i="1" dirty="0">
                <a:effectLst/>
              </a:rPr>
              <a:t> y 3</a:t>
            </a:r>
            <a:r>
              <a:rPr lang="en-GB" sz="699" b="0" i="1" baseline="30000" dirty="0">
                <a:effectLst/>
              </a:rPr>
              <a:t>ra</a:t>
            </a:r>
          </a:p>
          <a:p>
            <a:pPr lvl="2" fontAlgn="b">
              <a:buClr>
                <a:schemeClr val="bg1"/>
              </a:buClr>
              <a:buSzPct val="120000"/>
            </a:pPr>
            <a:r>
              <a:rPr lang="en-GB" sz="699" b="0" i="1" dirty="0">
                <a:effectLst/>
              </a:rPr>
              <a:t>Miramar (</a:t>
            </a:r>
            <a:r>
              <a:rPr lang="en-GB" sz="699" b="0" i="1" dirty="0" err="1">
                <a:effectLst/>
              </a:rPr>
              <a:t>Municipio</a:t>
            </a:r>
            <a:r>
              <a:rPr lang="en-GB" sz="699" b="0" i="1" dirty="0">
                <a:effectLst/>
              </a:rPr>
              <a:t> Playa)</a:t>
            </a:r>
          </a:p>
        </p:txBody>
      </p:sp>
      <p:sp>
        <p:nvSpPr>
          <p:cNvPr id="4" name="ZoneTexte 3"/>
          <p:cNvSpPr txBox="1"/>
          <p:nvPr/>
        </p:nvSpPr>
        <p:spPr>
          <a:xfrm flipH="1">
            <a:off x="0" y="2374356"/>
            <a:ext cx="5223059" cy="283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fontAlgn="b">
              <a:buClr>
                <a:schemeClr val="bg1"/>
              </a:buClr>
              <a:buSzPct val="120000"/>
              <a:buFontTx/>
              <a:buChar char="•"/>
            </a:pP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fr-FR" sz="1165" b="0" dirty="0">
                <a:solidFill>
                  <a:srgbClr val="000000"/>
                </a:solidFill>
                <a:effectLst/>
              </a:rPr>
              <a:t>Photocopie du passeport toujours en poche</a:t>
            </a:r>
            <a:endParaRPr lang="fr-FR" sz="932" b="0" i="1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  <a:buFontTx/>
              <a:buChar char="•"/>
              <a:defRPr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Penser à se munir de répulsif anti-moustique </a:t>
            </a:r>
            <a:r>
              <a:rPr lang="fr-FR" sz="932" b="0" i="1" dirty="0">
                <a:solidFill>
                  <a:srgbClr val="000000"/>
                </a:solidFill>
                <a:effectLst/>
              </a:rPr>
              <a:t>(en bord de mer)</a:t>
            </a: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2" fontAlgn="b">
              <a:spcAft>
                <a:spcPts val="350"/>
              </a:spcAft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Accès WIFI possible dans les parcs :</a:t>
            </a:r>
          </a:p>
          <a:p>
            <a:pPr marL="1265232" lvl="4" indent="-199774" fontAlgn="b">
              <a:spcAft>
                <a:spcPts val="350"/>
              </a:spcAft>
              <a:buClr>
                <a:schemeClr val="bg1"/>
              </a:buClr>
              <a:buSzPct val="120000"/>
              <a:buFont typeface="Wingdings" charset="2"/>
              <a:buChar char="Ø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2 à 3 CUC la carte prépayée : 1 h 00</a:t>
            </a:r>
            <a:endParaRPr lang="en-GB" sz="932" b="0" i="1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endParaRPr lang="fr-FR" sz="1165" b="0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Toujours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demander le prix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avant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d</a:t>
            </a:r>
            <a:r>
              <a:rPr lang="fr-FR" sz="1165" b="0" dirty="0">
                <a:solidFill>
                  <a:srgbClr val="000000"/>
                </a:solidFill>
                <a:effectLst/>
              </a:rPr>
              <a:t>’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acheter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et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soyez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attentif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à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ne pas payer en CUC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ce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qui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est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vendu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en Peso </a:t>
            </a:r>
            <a:r>
              <a:rPr lang="en-GB" altLang="ja-JP" sz="1165" b="0" dirty="0" err="1">
                <a:solidFill>
                  <a:srgbClr val="000000"/>
                </a:solidFill>
                <a:effectLst/>
              </a:rPr>
              <a:t>cubain</a:t>
            </a:r>
            <a:r>
              <a:rPr lang="en-GB" altLang="ja-JP" sz="1165" b="0" dirty="0">
                <a:solidFill>
                  <a:srgbClr val="000000"/>
                </a:solidFill>
                <a:effectLst/>
              </a:rPr>
              <a:t> ! </a:t>
            </a:r>
            <a:r>
              <a:rPr lang="en-GB" altLang="ja-JP" sz="699" b="0" i="1" dirty="0">
                <a:solidFill>
                  <a:srgbClr val="FF0000"/>
                </a:solidFill>
                <a:effectLst/>
              </a:rPr>
              <a:t>(</a:t>
            </a:r>
            <a:r>
              <a:rPr lang="en-GB" altLang="ja-JP" sz="699" b="0" i="1" dirty="0" err="1">
                <a:solidFill>
                  <a:srgbClr val="FF0000"/>
                </a:solidFill>
                <a:effectLst/>
              </a:rPr>
              <a:t>arnaques</a:t>
            </a:r>
            <a:r>
              <a:rPr lang="en-GB" altLang="ja-JP" sz="699" b="0" i="1" dirty="0">
                <a:solidFill>
                  <a:srgbClr val="FF0000"/>
                </a:solidFill>
                <a:effectLst/>
              </a:rPr>
              <a:t> </a:t>
            </a:r>
            <a:r>
              <a:rPr lang="en-GB" altLang="ja-JP" sz="699" b="0" i="1" dirty="0" err="1">
                <a:solidFill>
                  <a:srgbClr val="FF0000"/>
                </a:solidFill>
                <a:effectLst/>
              </a:rPr>
              <a:t>fréquentes</a:t>
            </a:r>
            <a:r>
              <a:rPr lang="en-GB" altLang="ja-JP" sz="699" b="0" i="1" dirty="0">
                <a:solidFill>
                  <a:srgbClr val="FF0000"/>
                </a:solidFill>
                <a:effectLst/>
              </a:rPr>
              <a:t>)</a:t>
            </a:r>
            <a:endParaRPr lang="en-GB" altLang="ja-JP" sz="932" b="0" i="1" dirty="0">
              <a:solidFill>
                <a:srgbClr val="FF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  <a:buFontTx/>
              <a:buChar char="•"/>
            </a:pPr>
            <a:endParaRPr lang="en-GB" sz="932" b="0" i="1" dirty="0">
              <a:solidFill>
                <a:srgbClr val="000000"/>
              </a:solidFill>
              <a:effectLst/>
            </a:endParaRPr>
          </a:p>
          <a:p>
            <a:pPr lvl="2" fontAlgn="b">
              <a:buClr>
                <a:schemeClr val="bg1"/>
              </a:buClr>
              <a:buSzPct val="120000"/>
              <a:buFontTx/>
              <a:buChar char="•"/>
            </a:pP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fr-FR" sz="1165" b="0" dirty="0">
                <a:solidFill>
                  <a:srgbClr val="000000"/>
                </a:solidFill>
                <a:effectLst/>
              </a:rPr>
              <a:t>En respectant certaines limites, il est possible de marchander </a:t>
            </a:r>
            <a:r>
              <a:rPr lang="en-GB" altLang="ja-JP" sz="1049" b="0" i="1" dirty="0">
                <a:solidFill>
                  <a:srgbClr val="000000"/>
                </a:solidFill>
                <a:effectLst/>
              </a:rPr>
              <a:t>(</a:t>
            </a:r>
            <a:r>
              <a:rPr lang="en-GB" altLang="ja-JP" sz="1049" b="0" i="1" dirty="0" err="1">
                <a:solidFill>
                  <a:srgbClr val="000000"/>
                </a:solidFill>
                <a:effectLst/>
              </a:rPr>
              <a:t>artisanat</a:t>
            </a:r>
            <a:r>
              <a:rPr lang="en-GB" altLang="ja-JP" sz="1049" b="0" i="1" dirty="0">
                <a:solidFill>
                  <a:srgbClr val="000000"/>
                </a:solidFill>
                <a:effectLst/>
              </a:rPr>
              <a:t>, taxis “</a:t>
            </a:r>
            <a:r>
              <a:rPr lang="en-GB" altLang="ja-JP" sz="1049" b="0" i="1" dirty="0" err="1">
                <a:solidFill>
                  <a:srgbClr val="000000"/>
                </a:solidFill>
                <a:effectLst/>
              </a:rPr>
              <a:t>clandestins</a:t>
            </a:r>
            <a:r>
              <a:rPr lang="en-GB" altLang="ja-JP" sz="1049" b="0" i="1" dirty="0">
                <a:solidFill>
                  <a:srgbClr val="000000"/>
                </a:solidFill>
                <a:effectLst/>
              </a:rPr>
              <a:t>”</a:t>
            </a:r>
            <a:r>
              <a:rPr lang="fr-FR" altLang="ja-JP" sz="1049" b="0" i="1" dirty="0">
                <a:solidFill>
                  <a:srgbClr val="000000"/>
                </a:solidFill>
                <a:effectLst/>
              </a:rPr>
              <a:t>)</a:t>
            </a:r>
            <a:endParaRPr lang="fr-FR" sz="1049" b="0" i="1" dirty="0">
              <a:solidFill>
                <a:srgbClr val="000000"/>
              </a:solidFill>
              <a:effectLst/>
            </a:endParaRPr>
          </a:p>
          <a:p>
            <a:endParaRPr lang="fr-FR" sz="2796" dirty="0"/>
          </a:p>
        </p:txBody>
      </p:sp>
    </p:spTree>
  </p:cSld>
  <p:clrMapOvr>
    <a:masterClrMapping/>
  </p:clrMapOvr>
  <p:transition>
    <p:wedg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72858" y="1933658"/>
            <a:ext cx="4909577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Quelques précautions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sp>
        <p:nvSpPr>
          <p:cNvPr id="149506" name="Rectangle 6"/>
          <p:cNvSpPr>
            <a:spLocks noChangeArrowheads="1"/>
          </p:cNvSpPr>
          <p:nvPr/>
        </p:nvSpPr>
        <p:spPr bwMode="auto">
          <a:xfrm>
            <a:off x="0" y="2311424"/>
            <a:ext cx="5191684" cy="224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endParaRPr lang="en-GB" sz="699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buClr>
                <a:schemeClr val="bg1"/>
              </a:buClr>
              <a:buSzPct val="120000"/>
            </a:pP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On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peut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l'affirmer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sans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hésitation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 : de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tous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les pays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d'Amérique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latine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,</a:t>
            </a:r>
          </a:p>
          <a:p>
            <a:pPr lvl="2" fontAlgn="b">
              <a:buClr>
                <a:schemeClr val="bg1"/>
              </a:buClr>
              <a:buSzPct val="120000"/>
            </a:pPr>
            <a:r>
              <a:rPr lang="en-GB" sz="699" i="1" u="sng" dirty="0">
                <a:solidFill>
                  <a:srgbClr val="FF0000"/>
                </a:solidFill>
                <a:effectLst/>
                <a:latin typeface="Arial" charset="0"/>
              </a:rPr>
              <a:t>Cuba </a:t>
            </a:r>
            <a:r>
              <a:rPr lang="en-GB" sz="699" i="1" u="sng" dirty="0" err="1">
                <a:solidFill>
                  <a:srgbClr val="FF0000"/>
                </a:solidFill>
                <a:effectLst/>
                <a:latin typeface="Arial" charset="0"/>
              </a:rPr>
              <a:t>est</a:t>
            </a:r>
            <a:r>
              <a:rPr lang="en-GB" sz="699" i="1" u="sng" dirty="0">
                <a:solidFill>
                  <a:srgbClr val="FF0000"/>
                </a:solidFill>
                <a:effectLst/>
                <a:latin typeface="Arial" charset="0"/>
              </a:rPr>
              <a:t> le plus </a:t>
            </a:r>
            <a:r>
              <a:rPr lang="en-GB" sz="699" i="1" u="sng" dirty="0" err="1">
                <a:solidFill>
                  <a:srgbClr val="FF0000"/>
                </a:solidFill>
                <a:effectLst/>
                <a:latin typeface="Arial" charset="0"/>
              </a:rPr>
              <a:t>sécuritaire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et de loin !...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Cependant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,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respectez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quelques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</a:t>
            </a:r>
            <a:r>
              <a:rPr lang="en-GB" sz="699" i="1" dirty="0" err="1">
                <a:solidFill>
                  <a:srgbClr val="FF0000"/>
                </a:solidFill>
                <a:effectLst/>
                <a:latin typeface="Arial" charset="0"/>
              </a:rPr>
              <a:t>règles</a:t>
            </a:r>
            <a:r>
              <a:rPr lang="en-GB" sz="699" i="1" dirty="0">
                <a:solidFill>
                  <a:srgbClr val="FF0000"/>
                </a:solidFill>
                <a:effectLst/>
                <a:latin typeface="Arial" charset="0"/>
              </a:rPr>
              <a:t> !</a:t>
            </a:r>
          </a:p>
          <a:p>
            <a:pPr lvl="2" fontAlgn="b">
              <a:buClr>
                <a:schemeClr val="bg1"/>
              </a:buClr>
              <a:buSzPct val="120000"/>
            </a:pPr>
            <a:endParaRPr lang="en-GB" sz="524" i="1" dirty="0">
              <a:solidFill>
                <a:srgbClr val="FF0000"/>
              </a:solidFill>
              <a:effectLst/>
              <a:latin typeface="Arial" charset="0"/>
            </a:endParaRPr>
          </a:p>
          <a:p>
            <a:pPr lvl="2" fontAlgn="b">
              <a:lnSpc>
                <a:spcPct val="15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Eviter de marcher seul(e) dans la rue, surtout le soir !</a:t>
            </a:r>
          </a:p>
          <a:p>
            <a:pPr lvl="3" fontAlgn="b">
              <a:lnSpc>
                <a:spcPct val="150000"/>
              </a:lnSpc>
              <a:buClr>
                <a:schemeClr val="bg1"/>
              </a:buClr>
            </a:pPr>
            <a:r>
              <a:rPr lang="fr-FR" sz="1049" b="0" i="1" dirty="0">
                <a:effectLst/>
                <a:sym typeface="Wingdings 3" charset="0"/>
              </a:rPr>
              <a:t></a:t>
            </a:r>
            <a:r>
              <a:rPr lang="fr-FR" sz="1049" b="0" i="1" dirty="0">
                <a:solidFill>
                  <a:srgbClr val="000000"/>
                </a:solidFill>
                <a:effectLst/>
              </a:rPr>
              <a:t> </a:t>
            </a:r>
            <a:r>
              <a:rPr lang="en-GB" sz="816" b="0" i="1" dirty="0">
                <a:solidFill>
                  <a:srgbClr val="000000"/>
                </a:solidFill>
                <a:effectLst/>
              </a:rPr>
              <a:t> </a:t>
            </a:r>
            <a:r>
              <a:rPr lang="en-GB" sz="932" b="0" i="1" dirty="0" err="1">
                <a:solidFill>
                  <a:srgbClr val="000000"/>
                </a:solidFill>
                <a:effectLst/>
              </a:rPr>
              <a:t>Peu</a:t>
            </a:r>
            <a:r>
              <a:rPr lang="en-GB" sz="932" b="0" i="1" dirty="0">
                <a:solidFill>
                  <a:srgbClr val="000000"/>
                </a:solidFill>
                <a:effectLst/>
              </a:rPr>
              <a:t> d</a:t>
            </a:r>
            <a:r>
              <a:rPr lang="ja-JP" altLang="en-GB" sz="932" b="0" i="1" dirty="0">
                <a:solidFill>
                  <a:srgbClr val="000000"/>
                </a:solidFill>
                <a:effectLst/>
              </a:rPr>
              <a:t>’</a:t>
            </a:r>
            <a:r>
              <a:rPr lang="en-GB" altLang="ja-JP" sz="932" b="0" i="1" dirty="0" err="1">
                <a:solidFill>
                  <a:srgbClr val="000000"/>
                </a:solidFill>
                <a:effectLst/>
              </a:rPr>
              <a:t>éclairage</a:t>
            </a:r>
            <a:r>
              <a:rPr lang="en-GB" altLang="ja-JP" sz="932" b="0" i="1" dirty="0">
                <a:solidFill>
                  <a:srgbClr val="000000"/>
                </a:solidFill>
                <a:effectLst/>
              </a:rPr>
              <a:t> public : </a:t>
            </a:r>
            <a:r>
              <a:rPr lang="en-GB" altLang="ja-JP" sz="932" b="0" i="1" dirty="0" err="1">
                <a:solidFill>
                  <a:srgbClr val="000000"/>
                </a:solidFill>
                <a:effectLst/>
              </a:rPr>
              <a:t>éviter</a:t>
            </a:r>
            <a:r>
              <a:rPr lang="en-GB" altLang="ja-JP" sz="932" b="0" i="1" dirty="0">
                <a:solidFill>
                  <a:srgbClr val="000000"/>
                </a:solidFill>
                <a:effectLst/>
              </a:rPr>
              <a:t> d</a:t>
            </a:r>
            <a:r>
              <a:rPr lang="fr-FR" altLang="ja-JP" sz="932" b="0" i="1" dirty="0">
                <a:solidFill>
                  <a:srgbClr val="000000"/>
                </a:solidFill>
                <a:effectLst/>
              </a:rPr>
              <a:t>’</a:t>
            </a:r>
            <a:r>
              <a:rPr lang="en-GB" altLang="ja-JP" sz="932" b="0" i="1" dirty="0" err="1">
                <a:solidFill>
                  <a:srgbClr val="000000"/>
                </a:solidFill>
                <a:effectLst/>
              </a:rPr>
              <a:t>emprunter</a:t>
            </a:r>
            <a:r>
              <a:rPr lang="en-GB" altLang="ja-JP" sz="932" b="0" i="1" dirty="0">
                <a:solidFill>
                  <a:srgbClr val="000000"/>
                </a:solidFill>
                <a:effectLst/>
              </a:rPr>
              <a:t> les rues non </a:t>
            </a:r>
            <a:r>
              <a:rPr lang="en-GB" altLang="ja-JP" sz="932" b="0" i="1" dirty="0" err="1">
                <a:solidFill>
                  <a:srgbClr val="000000"/>
                </a:solidFill>
                <a:effectLst/>
              </a:rPr>
              <a:t>éclairées</a:t>
            </a:r>
            <a:r>
              <a:rPr lang="en-GB" altLang="ja-JP" sz="932" b="0" i="1" dirty="0">
                <a:solidFill>
                  <a:srgbClr val="000000"/>
                </a:solidFill>
                <a:effectLst/>
              </a:rPr>
              <a:t> !</a:t>
            </a:r>
          </a:p>
          <a:p>
            <a:pPr lvl="2" fontAlgn="b">
              <a:lnSpc>
                <a:spcPct val="15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Ne pas acheter de cigares dans la rue </a:t>
            </a:r>
            <a:r>
              <a:rPr lang="fr-FR" sz="932" b="0" i="1" dirty="0">
                <a:solidFill>
                  <a:srgbClr val="000000"/>
                </a:solidFill>
                <a:effectLst/>
              </a:rPr>
              <a:t>(50 maxi à la sortie de Cuba)</a:t>
            </a:r>
          </a:p>
          <a:p>
            <a:pPr lvl="2" fontAlgn="b">
              <a:lnSpc>
                <a:spcPct val="15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Prévoir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poche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étanche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pour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protéger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ses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1165" b="0" dirty="0" err="1">
                <a:solidFill>
                  <a:srgbClr val="000000"/>
                </a:solidFill>
                <a:effectLst/>
              </a:rPr>
              <a:t>papiers</a:t>
            </a:r>
            <a:r>
              <a:rPr lang="en-GB" sz="1165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932" b="0" i="1" dirty="0">
                <a:solidFill>
                  <a:srgbClr val="000000"/>
                </a:solidFill>
                <a:effectLst/>
              </a:rPr>
              <a:t>(en </a:t>
            </a:r>
            <a:r>
              <a:rPr lang="en-GB" sz="932" b="0" i="1" dirty="0" err="1">
                <a:solidFill>
                  <a:srgbClr val="000000"/>
                </a:solidFill>
                <a:effectLst/>
              </a:rPr>
              <a:t>cas</a:t>
            </a:r>
            <a:r>
              <a:rPr lang="en-GB" sz="932" b="0" i="1" dirty="0">
                <a:solidFill>
                  <a:srgbClr val="000000"/>
                </a:solidFill>
                <a:effectLst/>
              </a:rPr>
              <a:t> de forte </a:t>
            </a:r>
            <a:r>
              <a:rPr lang="en-GB" sz="932" b="0" i="1" dirty="0" err="1">
                <a:solidFill>
                  <a:srgbClr val="000000"/>
                </a:solidFill>
                <a:effectLst/>
              </a:rPr>
              <a:t>pluie</a:t>
            </a:r>
            <a:r>
              <a:rPr lang="en-GB" sz="932" b="0" i="1" dirty="0">
                <a:solidFill>
                  <a:srgbClr val="000000"/>
                </a:solidFill>
                <a:effectLst/>
              </a:rPr>
              <a:t>)</a:t>
            </a:r>
          </a:p>
          <a:p>
            <a:pPr lvl="2" fontAlgn="b">
              <a:lnSpc>
                <a:spcPct val="15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Décliner poliment mais fermement les propositions faites dans</a:t>
            </a:r>
          </a:p>
          <a:p>
            <a:pPr lvl="2" fontAlgn="b">
              <a:buClr>
                <a:schemeClr val="bg1"/>
              </a:buClr>
              <a:buSzPct val="120000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  la rue par les </a:t>
            </a:r>
            <a:r>
              <a:rPr lang="fr-FR" sz="1165" b="0" i="1" dirty="0" err="1">
                <a:solidFill>
                  <a:srgbClr val="000000"/>
                </a:solidFill>
                <a:effectLst/>
              </a:rPr>
              <a:t>jinetero</a:t>
            </a:r>
            <a:r>
              <a:rPr lang="fr-FR" sz="1165" b="0" i="1" dirty="0">
                <a:solidFill>
                  <a:srgbClr val="000000"/>
                </a:solidFill>
                <a:effectLst/>
              </a:rPr>
              <a:t>(a)s</a:t>
            </a:r>
            <a:endParaRPr lang="fr-FR" sz="932" b="0" i="1" dirty="0">
              <a:solidFill>
                <a:srgbClr val="000000"/>
              </a:solidFill>
              <a:effectLst/>
            </a:endParaRPr>
          </a:p>
          <a:p>
            <a:pPr lvl="2" fontAlgn="b">
              <a:lnSpc>
                <a:spcPct val="150000"/>
              </a:lnSpc>
              <a:buClr>
                <a:schemeClr val="bg1"/>
              </a:buClr>
              <a:buSzPct val="120000"/>
              <a:buFontTx/>
              <a:buChar char="•"/>
            </a:pPr>
            <a:r>
              <a:rPr lang="fr-FR" sz="1165" b="0" dirty="0">
                <a:solidFill>
                  <a:srgbClr val="000000"/>
                </a:solidFill>
                <a:effectLst/>
              </a:rPr>
              <a:t> Vérifier les notes de restaurant </a:t>
            </a:r>
            <a:r>
              <a:rPr lang="fr-FR" sz="932" b="0" i="1" dirty="0">
                <a:solidFill>
                  <a:srgbClr val="000000"/>
                </a:solidFill>
                <a:effectLst/>
              </a:rPr>
              <a:t>(surtout celles rédigées à la main !)</a:t>
            </a:r>
            <a:endParaRPr lang="en-GB" sz="932" b="0" i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149507" name="Picture 3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3" y="2028002"/>
            <a:ext cx="4794885" cy="147066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Visites d’intérêt (1)</a:t>
            </a:r>
            <a:br>
              <a:rPr lang="fr-FR" sz="1398">
                <a:effectLst/>
                <a:latin typeface="Tahoma" charset="0"/>
                <a:ea typeface="MS PGothic" charset="0"/>
              </a:rPr>
            </a:b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39335" name="Group 7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77206172"/>
              </p:ext>
            </p:extLst>
          </p:nvPr>
        </p:nvGraphicFramePr>
        <p:xfrm>
          <a:off x="83613" y="2206538"/>
          <a:ext cx="5118614" cy="2646774"/>
        </p:xfrm>
        <a:graphic>
          <a:graphicData uri="http://schemas.openxmlformats.org/drawingml/2006/table">
            <a:tbl>
              <a:tblPr/>
              <a:tblGrid>
                <a:gridCol w="511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6774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« …La Havane est tout bonnement une merveille… »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MS PGothic" charset="0"/>
                          <a:cs typeface="MS PGothic" charset="0"/>
                        </a:rPr>
                        <a:t>(F. Garcia Lorca)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Les trois places emblématiques de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Santiago de Cuba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Plage de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Guardalavaca</a:t>
                      </a:r>
                      <a:endParaRPr kumimoji="0" lang="fr-F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Castillo de los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Tres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Reyes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del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Morro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à l’entrée de la baie (phare)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Musée du Rhum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à La Havane</a:t>
                      </a:r>
                      <a:endParaRPr kumimoji="0" lang="fr-F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Varadero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la station balnéaire la plus célèbre et la plus fréquentée de Cuba</a:t>
                      </a:r>
                    </a:p>
                  </a:txBody>
                  <a:tcPr marL="53277" marR="53277" marT="26642" marB="2664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1557" name="Picture 7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483575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1" name="Picture 3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8058" y="2044651"/>
            <a:ext cx="4794885" cy="147066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Visites d’intérêt (2)</a:t>
            </a:r>
            <a:br>
              <a:rPr lang="fr-FR" sz="1398" dirty="0">
                <a:effectLst/>
                <a:latin typeface="Tahoma" charset="0"/>
                <a:ea typeface="MS PGothic" charset="0"/>
              </a:rPr>
            </a:b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46104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67370"/>
              </p:ext>
            </p:extLst>
          </p:nvPr>
        </p:nvGraphicFramePr>
        <p:xfrm>
          <a:off x="203885" y="2479243"/>
          <a:ext cx="5118614" cy="2770372"/>
        </p:xfrm>
        <a:graphic>
          <a:graphicData uri="http://schemas.openxmlformats.org/drawingml/2006/table">
            <a:tbl>
              <a:tblPr/>
              <a:tblGrid>
                <a:gridCol w="511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0372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Tribune anti-impérialiste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face à la nouvelle ambassade des Etats-Unis, où ont lieu tous les grands rassemblements populaires et parfois des concerts (los Van Van, Manolito, </a:t>
                      </a:r>
                      <a:r>
                        <a:rPr kumimoji="0" lang="fr-F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Aldalberto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…)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Le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Tourisbus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propose 3 circuits dont un vers les Plages de l’Est (5 à 10 CUC)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Musée des Beaux-Arts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très riche artistiquement : vaut vraiment le détour ! Deux sites : 47 000 œuvres…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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</a:t>
                      </a:r>
                      <a:r>
                        <a:rPr kumimoji="0" lang="fr-FR" sz="1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Attention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tous les musées sont fermés le lundi !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Forteresse San Carlos de La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Cabaña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vue sur la baie de     La Havane. Tous les soirs à 21 h 00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/>
                        </a:rPr>
                        <a:t> C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érémonie du célèbre </a:t>
                      </a:r>
                      <a:r>
                        <a:rPr kumimoji="0" lang="fr-FR" sz="1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« </a:t>
                      </a:r>
                      <a:r>
                        <a:rPr kumimoji="0" lang="fr-FR" sz="1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Cañonazo</a:t>
                      </a:r>
                      <a:r>
                        <a:rPr kumimoji="0" lang="fr-FR" sz="1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»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5" marB="2663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edg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7" y="1954932"/>
            <a:ext cx="5061268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Sortir pour prendre un pot à La Havane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48139" name="Group 1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783724222"/>
              </p:ext>
            </p:extLst>
          </p:nvPr>
        </p:nvGraphicFramePr>
        <p:xfrm>
          <a:off x="151132" y="2355599"/>
          <a:ext cx="5092905" cy="3215089"/>
        </p:xfrm>
        <a:graphic>
          <a:graphicData uri="http://schemas.openxmlformats.org/drawingml/2006/table">
            <a:tbl>
              <a:tblPr/>
              <a:tblGrid>
                <a:gridCol w="509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3854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terrasse et les jardins de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l’Hôtel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Nacional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Au bout de la Calle 21 -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UNEAC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dans une somptueuse maison coloniale, 1 mercredi sur 2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(de 17 h 00 à 20 h 00)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Peña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del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Ambia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l’autre mercredi 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Peña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la 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trova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(entrée : 5 CUC)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Angle Calle 17 et H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Le bar « 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La Torre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 » au dernier étage de l’immeuble FOCSA, le plus haut de Cuba. Superbe vue sur La Havane, surtout au coucher du soleil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Calle 17 entre M et N 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Pour les amoureux de latin jazz, le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Jazz Café :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Angle Paseo et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Malecon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(forfait 10 CUC : entrée, repas, boissons)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et la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Zorra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y el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Cuervo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C/23 e/ N y O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Catedral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Excellent, pas cher, vraiment pas cher !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C/8 e/ Calzada y 5ta – </a:t>
                      </a:r>
                      <a:r>
                        <a:rPr kumimoji="0" lang="fr-FR" sz="800" b="0" i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Dos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Hermanos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Le café où Federico García Lorca avait ses habitudes !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(cocktails délicieux à un prix correct pour l’endroit !)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Siá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Kará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Café :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un endroit « branché » pour finir la soirée -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Industria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esq. Barcelona (derrière le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Capitolio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Gato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Tuerto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le Temple du boléro – </a:t>
                      </a:r>
                      <a:r>
                        <a:rPr kumimoji="0" lang="es-ES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O entre 17 y 19, Vedado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à partir de 23 h 00</a:t>
                      </a:r>
                      <a:endParaRPr kumimoji="0" lang="en-GB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9" marB="2663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9" marB="2663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5653" name="Picture 68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7" y="1954932"/>
            <a:ext cx="5061268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Sortir pour aller danser à La Havane (matinée/soirée)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29083" name="Group 59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605939940"/>
              </p:ext>
            </p:extLst>
          </p:nvPr>
        </p:nvGraphicFramePr>
        <p:xfrm>
          <a:off x="159090" y="2378554"/>
          <a:ext cx="4992822" cy="3081158"/>
        </p:xfrm>
        <a:graphic>
          <a:graphicData uri="http://schemas.openxmlformats.org/drawingml/2006/table">
            <a:tbl>
              <a:tblPr/>
              <a:tblGrid>
                <a:gridCol w="4992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0293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Jardines de 1830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(22 h 30 à 4 h 00)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Angle Calle 22 et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Malecon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Casa de la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Música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 Centro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Galiano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e/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Neptuno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y Concordia - Centro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endParaRPr kumimoji="0" lang="fr-FR" sz="1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Casa de la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Música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Miramar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20 esq. 35 -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Miramar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– Juste à coté, le </a:t>
                      </a:r>
                      <a:r>
                        <a:rPr kumimoji="0" lang="fr-FR" sz="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Diablo</a:t>
                      </a: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Tuntun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(piano-bar) ouvert jusqu’à 6 h 00 du matin.</a:t>
                      </a: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Café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Cantante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place de la Révolution, très sympa, mais se renseigner sur le genre musical de la soirée (</a:t>
                      </a:r>
                      <a:r>
                        <a:rPr kumimoji="0" lang="fr-F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reggaeton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salsa, salsa-rap, rock, …)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Club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Imagenes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typique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« </a:t>
                      </a:r>
                      <a:r>
                        <a:rPr kumimoji="0" lang="fr-F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discotemba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 », matinées vendredi et samedi de 15 h 30 à 20 h 00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- Angle Calzada y Calle C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El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Chévere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GB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isco en </a:t>
                      </a:r>
                      <a:r>
                        <a:rPr lang="en-GB" sz="10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plein</a:t>
                      </a:r>
                      <a:r>
                        <a:rPr lang="en-GB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air avec </a:t>
                      </a:r>
                      <a:r>
                        <a:rPr lang="en-GB" sz="10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groupe</a:t>
                      </a:r>
                      <a:r>
                        <a:rPr lang="en-GB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salsa - </a:t>
                      </a:r>
                      <a:r>
                        <a:rPr lang="en-GB" sz="10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Repas</a:t>
                      </a:r>
                      <a:r>
                        <a:rPr lang="en-GB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0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peu</a:t>
                      </a:r>
                      <a:r>
                        <a:rPr lang="en-GB" sz="10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0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chers</a:t>
                      </a:r>
                      <a:r>
                        <a:rPr lang="en-GB" sz="1000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(le mercredi de 19 h 30 à 4 h 00) - 49C 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Kolhy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Milonga le lundi de 19 h 00 à 22 h 00 à la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Casa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del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Tango</a:t>
                      </a:r>
                      <a:r>
                        <a:rPr kumimoji="0" lang="fr-FR" sz="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Neptuno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309, Centro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 le dimanche de 21 h 00 à 00 h 00 à la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Casa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del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Arabe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(Prado)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 typeface="Wingdings" charset="0"/>
                        <a:buChar char="Ø"/>
                        <a:tabLst/>
                      </a:pP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Se renseigner 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toujours  auparavant 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pour savoir si l’endroit est ouvert !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 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(voir aussi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www.cuba-visa.info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/)</a:t>
                      </a:r>
                      <a:endParaRPr kumimoji="0" lang="en-GB" sz="700" b="0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6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7701" name="Picture 6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7" y="1954932"/>
            <a:ext cx="5061268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Sortir pour aller dîner à La Havane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50185" name="Group 9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384215824"/>
              </p:ext>
            </p:extLst>
          </p:nvPr>
        </p:nvGraphicFramePr>
        <p:xfrm>
          <a:off x="167523" y="2269469"/>
          <a:ext cx="4992822" cy="3092997"/>
        </p:xfrm>
        <a:graphic>
          <a:graphicData uri="http://schemas.openxmlformats.org/drawingml/2006/table">
            <a:tbl>
              <a:tblPr/>
              <a:tblGrid>
                <a:gridCol w="4992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92997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Hanoï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bon et bon marché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Angle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Teniente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Rey et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Bernaza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Vieja</a:t>
                      </a: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Artechef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excellente cuisine cubaine !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Angle de la Calle 3 et A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El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Aljibe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gastronomie traditionnelle cubaine sous un toit de palme avec le meilleur poulet 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« </a:t>
                      </a:r>
                      <a:r>
                        <a:rPr kumimoji="0" lang="fr-FR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criollo</a:t>
                      </a: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 »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de l’île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7</a:t>
                      </a:r>
                      <a:r>
                        <a:rPr kumimoji="0" lang="fr-FR" sz="800" b="0" i="1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ème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avenue entre Calle 24 et 26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Miramar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La Rampa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(cafétéria de l’hôtel </a:t>
                      </a:r>
                      <a:r>
                        <a:rPr kumimoji="0" lang="fr-F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Libre) : excellents spaghettis aux crevettes. Un peu cher, mais une adresse ouverte 24/7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Esq. L y 23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endParaRPr kumimoji="0" lang="fr-FR" sz="1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La Roca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pas cher du tout !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21 entre Calle L et M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endParaRPr kumimoji="0" lang="fr-FR" sz="10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Café Laurent : 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un </a:t>
                      </a:r>
                      <a:r>
                        <a:rPr kumimoji="0" lang="fr-F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paladar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« d’interprétation gastronomique »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 Calle M entre Calle 19 et 21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 réserver au 831 20 90 ou 832 68 90 (dernier étage immeuble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Olguita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  <a:sym typeface="Wingdings" charset="0"/>
                        </a:rPr>
                        <a:t>)</a:t>
                      </a:r>
                      <a:endParaRPr kumimoji="0" lang="fr-F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Union </a:t>
                      </a:r>
                      <a:r>
                        <a:rPr kumimoji="0" lang="fr-F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Francesa</a:t>
                      </a:r>
                      <a:r>
                        <a:rPr kumimoji="0" lang="fr-F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Cuba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restaurant agréable dans maison coloniale </a:t>
                      </a:r>
                      <a:r>
                        <a:rPr kumimoji="0" lang="fr-F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–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Angle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17 et -6 – </a:t>
                      </a:r>
                      <a:r>
                        <a:rPr kumimoji="0" lang="fr-FR" sz="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(face au célèbre Parc John Lennon)…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 …et aussi de bonnes pizzas au </a:t>
                      </a:r>
                      <a:r>
                        <a:rPr kumimoji="0" lang="fr-F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Maraka’s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(Calle O e/ 23 et 25 –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Vedado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 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beaucoup de restaurants à petits prix dans le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Quartier chinois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(Centro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Habana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notamment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« Chi </a:t>
                      </a:r>
                      <a:r>
                        <a:rPr kumimoji="0" lang="fr-F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Tack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Tong, </a:t>
                      </a:r>
                      <a:r>
                        <a:rPr kumimoji="0" lang="fr-FR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El </a:t>
                      </a:r>
                      <a:r>
                        <a:rPr kumimoji="0" lang="fr-FR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Viejo</a:t>
                      </a:r>
                      <a:r>
                        <a:rPr kumimoji="0" lang="fr-FR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Amigo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»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Dragones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356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et</a:t>
                      </a:r>
                      <a:r>
                        <a:rPr kumimoji="0" lang="fr-F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« La Flor de Loto », 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Calle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Salud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313 e/ </a:t>
                      </a:r>
                      <a:r>
                        <a:rPr kumimoji="0" lang="fr-FR" sz="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Gervasio</a:t>
                      </a:r>
                      <a:r>
                        <a:rPr kumimoji="0" lang="fr-FR" sz="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y Escobar</a:t>
                      </a: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9749" name="Picture 8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3" y="1952157"/>
            <a:ext cx="4794885" cy="147066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Pour leur faire </a:t>
            </a:r>
            <a:r>
              <a:rPr lang="fr-FR" sz="1049">
                <a:effectLst/>
                <a:latin typeface="Tahoma" charset="0"/>
                <a:ea typeface="MS PGothic" charset="0"/>
              </a:rPr>
              <a:t>(énormément) </a:t>
            </a:r>
            <a:r>
              <a:rPr lang="fr-FR" sz="1398">
                <a:effectLst/>
                <a:latin typeface="Tahoma" charset="0"/>
                <a:ea typeface="MS PGothic" charset="0"/>
              </a:rPr>
              <a:t>plaisir !…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11745" name="Group 129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61187652"/>
              </p:ext>
            </p:extLst>
          </p:nvPr>
        </p:nvGraphicFramePr>
        <p:xfrm>
          <a:off x="365351" y="2323058"/>
          <a:ext cx="4794885" cy="3278909"/>
        </p:xfrm>
        <a:graphic>
          <a:graphicData uri="http://schemas.openxmlformats.org/drawingml/2006/table">
            <a:tbl>
              <a:tblPr/>
              <a:tblGrid>
                <a:gridCol w="479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64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Médicaments</a:t>
                      </a: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Aspirine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Analgésique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ahoma" charset="0"/>
                          <a:ea typeface="MS PGothic" charset="0"/>
                          <a:cs typeface="MS PGothic" charset="0"/>
                        </a:rPr>
                        <a:t>Denoral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Enalapryl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en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plaquettes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Voltaren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gel, spray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comprimés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Ventoline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équivalent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Budesonide, Fluticasone,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Vitamines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C E A D B12 B6 Bi,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Paracétamol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Pommade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mentolée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Telmosatan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pression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Endotelon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(circulation),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Alka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-seltzer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Divers 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Vêtements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y.c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. pour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bébés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stylos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savon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huile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’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olive,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produits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toilette et de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beauté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(rouge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ongle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et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lèvre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crème de corps,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parfum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), valise, sac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main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ou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à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dos,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chaussures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après-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rasage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shampo</a:t>
                      </a:r>
                      <a:r>
                        <a:rPr kumimoji="0" lang="fr-FR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ing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lait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en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poudre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collier de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perles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fantaisie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sacs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poubelles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téléphones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portables </a:t>
                      </a:r>
                      <a:r>
                        <a:rPr kumimoji="0" lang="en-GB" altLang="ja-JP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d’occasion</a:t>
                      </a:r>
                      <a:r>
                        <a:rPr kumimoji="0" lang="en-GB" altLang="ja-JP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isanes en sachet,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lampe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de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poche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allumettes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briquets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chocolat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bonbons,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stylos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câpres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, …</a:t>
                      </a: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1797" name="Picture 13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Pour se faire </a:t>
            </a:r>
            <a:r>
              <a:rPr lang="fr-FR" sz="1049">
                <a:effectLst/>
                <a:latin typeface="Tahoma" charset="0"/>
                <a:ea typeface="MS PGothic" charset="0"/>
              </a:rPr>
              <a:t>(modéremment) </a:t>
            </a:r>
            <a:r>
              <a:rPr lang="fr-FR" sz="1398">
                <a:effectLst/>
                <a:latin typeface="Tahoma" charset="0"/>
                <a:ea typeface="MS PGothic" charset="0"/>
              </a:rPr>
              <a:t>plaisir !…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52664" name="Group 8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131013806"/>
              </p:ext>
            </p:extLst>
          </p:nvPr>
        </p:nvGraphicFramePr>
        <p:xfrm>
          <a:off x="104591" y="2374356"/>
          <a:ext cx="4740877" cy="2859049"/>
        </p:xfrm>
        <a:graphic>
          <a:graphicData uri="http://schemas.openxmlformats.org/drawingml/2006/table">
            <a:tbl>
              <a:tblPr/>
              <a:tblGrid>
                <a:gridCol w="4740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9049">
                <a:tc>
                  <a:txBody>
                    <a:bodyPr/>
                    <a:lstStyle/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Rhum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et </a:t>
                      </a:r>
                      <a:r>
                        <a:rPr kumimoji="0" lang="en-GB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Cigares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(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50</a:t>
                      </a:r>
                      <a:r>
                        <a:rPr kumimoji="0" lang="fr-FR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maxi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) 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: les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meilleurs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du monde, les plus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chers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en-GB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aussi</a:t>
                      </a: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! 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Ne pas acheter dans la rue (faux à 99,99 %)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Peintures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nombreux peintres de qualité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kumimoji="0" lang="fr-F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CD/DVD</a:t>
                      </a:r>
                      <a:r>
                        <a:rPr kumimoji="0" lang="fr-F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: </a:t>
                      </a: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prix légèrement &lt; prix français !!!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fr-FR" sz="12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  <a:defRPr/>
                      </a:pPr>
                      <a:r>
                        <a:rPr kumimoji="0" lang="fr-FR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</a:t>
                      </a:r>
                      <a:r>
                        <a:rPr lang="en-GB" sz="1200" b="1" dirty="0" err="1">
                          <a:solidFill>
                            <a:srgbClr val="000000"/>
                          </a:solidFill>
                          <a:effectLst/>
                        </a:rPr>
                        <a:t>L'artisanat</a:t>
                      </a: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</a:rPr>
                        <a:t> local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est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plutôt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rare et de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qualité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médiocre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. 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Dans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les boutiques de la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Havane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ainsi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que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sur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les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marchés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d'artisanat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de la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ville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toujours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les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mêmes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babioles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du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Che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et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autres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objets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décoratifs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en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os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ou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en bois. Pour les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hommes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ramener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rgbClr val="000000"/>
                          </a:solidFill>
                          <a:effectLst/>
                        </a:rPr>
                        <a:t>une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ja-JP" altLang="en-GB" sz="1200" b="0" dirty="0">
                          <a:solidFill>
                            <a:srgbClr val="000000"/>
                          </a:solidFill>
                          <a:effectLst/>
                        </a:rPr>
                        <a:t>“</a:t>
                      </a:r>
                      <a:r>
                        <a:rPr lang="en-GB" altLang="ja-JP" sz="1200" dirty="0" err="1">
                          <a:solidFill>
                            <a:srgbClr val="000000"/>
                          </a:solidFill>
                          <a:effectLst/>
                        </a:rPr>
                        <a:t>guayabera</a:t>
                      </a:r>
                      <a:r>
                        <a:rPr lang="ja-JP" altLang="en-GB" sz="1200" b="0" dirty="0">
                          <a:solidFill>
                            <a:srgbClr val="000000"/>
                          </a:solidFill>
                          <a:effectLst/>
                        </a:rPr>
                        <a:t>”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, chemise en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coton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typiquement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cubaine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portée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souvent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le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dimanche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pour </a:t>
                      </a:r>
                      <a:r>
                        <a:rPr lang="en-GB" altLang="ja-JP" sz="1200" b="0" dirty="0" err="1">
                          <a:solidFill>
                            <a:srgbClr val="000000"/>
                          </a:solidFill>
                          <a:effectLst/>
                        </a:rPr>
                        <a:t>sortir</a:t>
                      </a:r>
                      <a:r>
                        <a:rPr lang="en-GB" altLang="ja-JP" sz="1200" b="0" dirty="0">
                          <a:solidFill>
                            <a:srgbClr val="000000"/>
                          </a:solidFill>
                          <a:effectLst/>
                        </a:rPr>
                        <a:t> !</a:t>
                      </a:r>
                    </a:p>
                    <a:p>
                      <a:pPr marL="914400" marR="0" lvl="2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Char char="•"/>
                        <a:tabLst/>
                      </a:pPr>
                      <a:endParaRPr kumimoji="0" lang="fr-F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27" marB="2662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847" name="Rectangle 91"/>
          <p:cNvSpPr>
            <a:spLocks noChangeArrowheads="1"/>
          </p:cNvSpPr>
          <p:nvPr/>
        </p:nvSpPr>
        <p:spPr bwMode="auto">
          <a:xfrm>
            <a:off x="1309714" y="5222742"/>
            <a:ext cx="2974605" cy="231235"/>
          </a:xfrm>
          <a:prstGeom prst="rect">
            <a:avLst/>
          </a:prstGeom>
          <a:solidFill>
            <a:srgbClr val="FFFF00"/>
          </a:solidFill>
          <a:ln w="28575">
            <a:solidFill>
              <a:srgbClr val="C605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 sz="583" b="0">
              <a:solidFill>
                <a:schemeClr val="tx1"/>
              </a:solidFill>
              <a:effectLst/>
            </a:endParaRPr>
          </a:p>
        </p:txBody>
      </p:sp>
      <p:sp>
        <p:nvSpPr>
          <p:cNvPr id="163848" name="Text Box 44"/>
          <p:cNvSpPr txBox="1">
            <a:spLocks noChangeArrowheads="1"/>
          </p:cNvSpPr>
          <p:nvPr/>
        </p:nvSpPr>
        <p:spPr bwMode="auto">
          <a:xfrm>
            <a:off x="335342" y="5206295"/>
            <a:ext cx="4138409" cy="4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2pPr>
            <a:lvl3pPr eaLnBrk="0" hangingPunct="0"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3pPr>
            <a:lvl4pPr eaLnBrk="0" hangingPunct="0"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ahoma" charset="0"/>
                <a:ea typeface="MS PGothic" charset="0"/>
                <a:cs typeface="MS PGothic" charset="0"/>
              </a:defRPr>
            </a:lvl9pPr>
          </a:lstStyle>
          <a:p>
            <a:pPr lvl="3" eaLnBrk="1" hangingPunct="1">
              <a:lnSpc>
                <a:spcPct val="120000"/>
              </a:lnSpc>
            </a:pPr>
            <a:r>
              <a:rPr lang="en-GB" sz="932" i="1" dirty="0">
                <a:solidFill>
                  <a:srgbClr val="C60500"/>
                </a:solidFill>
                <a:effectLst/>
                <a:latin typeface="Comic Sans MS" charset="0"/>
              </a:rPr>
              <a:t>   ◊ </a:t>
            </a:r>
            <a:r>
              <a:rPr lang="en-GB" sz="932" i="1" dirty="0">
                <a:solidFill>
                  <a:srgbClr val="C60500"/>
                </a:solidFill>
                <a:effectLst/>
              </a:rPr>
              <a:t>Marché artisanal : </a:t>
            </a:r>
            <a:r>
              <a:rPr lang="en-GB" sz="932" i="1" dirty="0" err="1">
                <a:solidFill>
                  <a:srgbClr val="C60500"/>
                </a:solidFill>
                <a:effectLst/>
              </a:rPr>
              <a:t>tous</a:t>
            </a:r>
            <a:r>
              <a:rPr lang="en-GB" sz="932" i="1" dirty="0">
                <a:solidFill>
                  <a:srgbClr val="C60500"/>
                </a:solidFill>
                <a:effectLst/>
              </a:rPr>
              <a:t> les </a:t>
            </a:r>
            <a:r>
              <a:rPr lang="en-GB" sz="932" i="1" dirty="0" err="1">
                <a:solidFill>
                  <a:srgbClr val="C60500"/>
                </a:solidFill>
                <a:effectLst/>
              </a:rPr>
              <a:t>jours</a:t>
            </a:r>
            <a:r>
              <a:rPr lang="en-GB" sz="932" i="1" dirty="0">
                <a:solidFill>
                  <a:srgbClr val="C60500"/>
                </a:solidFill>
                <a:effectLst/>
              </a:rPr>
              <a:t> de 9 h </a:t>
            </a:r>
            <a:r>
              <a:rPr lang="en-GB" sz="932" i="1" dirty="0" err="1">
                <a:solidFill>
                  <a:srgbClr val="C60500"/>
                </a:solidFill>
                <a:effectLst/>
              </a:rPr>
              <a:t>à</a:t>
            </a:r>
            <a:r>
              <a:rPr lang="en-GB" sz="932" i="1" dirty="0">
                <a:solidFill>
                  <a:srgbClr val="C60500"/>
                </a:solidFill>
                <a:effectLst/>
              </a:rPr>
              <a:t> 18 h !</a:t>
            </a:r>
            <a:endParaRPr lang="fr-FR" sz="932" i="1" dirty="0">
              <a:solidFill>
                <a:srgbClr val="C60500"/>
              </a:solidFill>
              <a:effectLst/>
            </a:endParaRPr>
          </a:p>
        </p:txBody>
      </p:sp>
      <p:pic>
        <p:nvPicPr>
          <p:cNvPr id="163850" name="Picture 90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7" name="Picture 9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15"/>
          <p:cNvSpPr>
            <a:spLocks noChangeArrowheads="1"/>
          </p:cNvSpPr>
          <p:nvPr/>
        </p:nvSpPr>
        <p:spPr bwMode="auto">
          <a:xfrm>
            <a:off x="389400" y="4344050"/>
            <a:ext cx="4659844" cy="919547"/>
          </a:xfrm>
          <a:prstGeom prst="rect">
            <a:avLst/>
          </a:prstGeom>
          <a:noFill/>
          <a:ln w="9525">
            <a:solidFill>
              <a:schemeClr val="bg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fr-FR" sz="1398" dirty="0">
                <a:solidFill>
                  <a:srgbClr val="FF0000"/>
                </a:solidFill>
                <a:effectLst/>
                <a:latin typeface="Segoe UI" charset="0"/>
              </a:rPr>
              <a:t>Cuba n’est,</a:t>
            </a:r>
            <a:endParaRPr lang="fr-FR" sz="1165" dirty="0">
              <a:solidFill>
                <a:srgbClr val="FF0000"/>
              </a:solidFill>
              <a:effectLst/>
              <a:latin typeface="Segoe UI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fr-FR" sz="1165" b="0" i="1" dirty="0">
                <a:solidFill>
                  <a:srgbClr val="2B2BFE"/>
                </a:solidFill>
                <a:effectLst/>
                <a:latin typeface="Segoe UI" charset="0"/>
              </a:rPr>
              <a:t>ni le </a:t>
            </a:r>
            <a:r>
              <a:rPr lang="fr-FR" sz="1165" i="1" dirty="0">
                <a:solidFill>
                  <a:srgbClr val="2B2BFE"/>
                </a:solidFill>
                <a:effectLst/>
                <a:latin typeface="Segoe UI" charset="0"/>
              </a:rPr>
              <a:t>paradis tropical socialiste </a:t>
            </a:r>
            <a:r>
              <a:rPr lang="fr-FR" sz="1165" b="0" i="1" dirty="0">
                <a:solidFill>
                  <a:srgbClr val="2B2BFE"/>
                </a:solidFill>
                <a:effectLst/>
                <a:latin typeface="Segoe UI" charset="0"/>
              </a:rPr>
              <a:t>vanté par ses admirateurs,</a:t>
            </a:r>
          </a:p>
          <a:p>
            <a:pPr algn="ctr">
              <a:lnSpc>
                <a:spcPct val="150000"/>
              </a:lnSpc>
              <a:defRPr/>
            </a:pPr>
            <a:r>
              <a:rPr lang="fr-FR" sz="1165" b="0" i="1" dirty="0">
                <a:solidFill>
                  <a:srgbClr val="FF00FF"/>
                </a:solidFill>
                <a:effectLst/>
                <a:latin typeface="Segoe UI" charset="0"/>
              </a:rPr>
              <a:t>ni la </a:t>
            </a:r>
            <a:r>
              <a:rPr lang="fr-FR" sz="1165" i="1" dirty="0">
                <a:solidFill>
                  <a:srgbClr val="FF00FF"/>
                </a:solidFill>
                <a:effectLst/>
                <a:latin typeface="Segoe UI" charset="0"/>
              </a:rPr>
              <a:t>dictature tyrannique </a:t>
            </a:r>
            <a:r>
              <a:rPr lang="fr-FR" sz="1165" b="0" i="1" dirty="0">
                <a:solidFill>
                  <a:srgbClr val="FF00FF"/>
                </a:solidFill>
                <a:effectLst/>
                <a:latin typeface="Segoe UI" charset="0"/>
              </a:rPr>
              <a:t>critiquée par ses détracteurs !...</a:t>
            </a:r>
          </a:p>
        </p:txBody>
      </p:sp>
      <p:pic>
        <p:nvPicPr>
          <p:cNvPr id="160772" name="Picture 4" descr="carte-cuba.1296757551.gif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21419" y="2205590"/>
            <a:ext cx="2242977" cy="1979370"/>
          </a:xfrm>
          <a:prstGeom prst="rect">
            <a:avLst/>
          </a:prstGeom>
          <a:noFill/>
          <a:ln w="25400">
            <a:solidFill>
              <a:schemeClr val="bg1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ChangeArrowheads="1"/>
          </p:cNvSpPr>
          <p:nvPr/>
        </p:nvSpPr>
        <p:spPr bwMode="auto">
          <a:xfrm>
            <a:off x="0" y="1935508"/>
            <a:ext cx="2663825" cy="9528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796" i="1" dirty="0">
                <a:solidFill>
                  <a:srgbClr val="FF0000"/>
                </a:solidFill>
                <a:effectLst/>
              </a:rPr>
              <a:t>Cuba</a:t>
            </a:r>
          </a:p>
          <a:p>
            <a:pPr algn="ctr"/>
            <a:r>
              <a:rPr lang="fr-FR" sz="1165" b="0" i="1" dirty="0">
                <a:solidFill>
                  <a:srgbClr val="FF0000"/>
                </a:solidFill>
                <a:effectLst/>
                <a:latin typeface="Segoe Print" pitchFamily="2" charset="0"/>
              </a:rPr>
              <a:t>(Santiago de Cuba – La Havane)</a:t>
            </a:r>
          </a:p>
          <a:p>
            <a:pPr algn="ctr"/>
            <a:endParaRPr lang="fr-FR" sz="1631" i="1" dirty="0">
              <a:solidFill>
                <a:srgbClr val="0033CC"/>
              </a:solidFill>
              <a:effectLst/>
            </a:endParaRPr>
          </a:p>
        </p:txBody>
      </p:sp>
      <p:sp>
        <p:nvSpPr>
          <p:cNvPr id="3075" name="Rectangle 29"/>
          <p:cNvSpPr>
            <a:spLocks noChangeArrowheads="1"/>
          </p:cNvSpPr>
          <p:nvPr/>
        </p:nvSpPr>
        <p:spPr bwMode="auto">
          <a:xfrm>
            <a:off x="1519675" y="5155222"/>
            <a:ext cx="3713631" cy="474494"/>
          </a:xfrm>
          <a:prstGeom prst="rect">
            <a:avLst/>
          </a:prstGeom>
          <a:solidFill>
            <a:srgbClr val="F4F494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398" i="1" dirty="0">
                <a:solidFill>
                  <a:srgbClr val="FF0000"/>
                </a:solidFill>
                <a:effectLst/>
                <a:latin typeface="Segoe Script" pitchFamily="34" charset="0"/>
              </a:rPr>
              <a:t>Cuba à Vélo</a:t>
            </a:r>
          </a:p>
          <a:p>
            <a:pPr algn="ctr"/>
            <a:r>
              <a:rPr lang="fr-FR" sz="932" i="1" dirty="0">
                <a:solidFill>
                  <a:srgbClr val="FF0000"/>
                </a:solidFill>
                <a:effectLst/>
                <a:latin typeface="Segoe Print" pitchFamily="2" charset="0"/>
              </a:rPr>
              <a:t>du 10 janvier au 1</a:t>
            </a:r>
            <a:r>
              <a:rPr lang="fr-FR" sz="932" i="1" baseline="30000" dirty="0">
                <a:solidFill>
                  <a:srgbClr val="FF0000"/>
                </a:solidFill>
                <a:effectLst/>
                <a:latin typeface="Segoe Print" pitchFamily="2" charset="0"/>
              </a:rPr>
              <a:t>er</a:t>
            </a:r>
            <a:r>
              <a:rPr lang="fr-FR" sz="932" i="1" dirty="0">
                <a:solidFill>
                  <a:srgbClr val="FF0000"/>
                </a:solidFill>
                <a:effectLst/>
                <a:latin typeface="Segoe Print" pitchFamily="2" charset="0"/>
              </a:rPr>
              <a:t> février 2017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034505" y="2156557"/>
            <a:ext cx="3293145" cy="2415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lvl="1" fontAlgn="b">
              <a:lnSpc>
                <a:spcPct val="17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Vol Paris Orly - Santiago de Cuba / La Havane </a:t>
            </a:r>
            <a:r>
              <a:rPr lang="fr-FR" sz="612" b="0" i="1" dirty="0">
                <a:effectLst/>
              </a:rPr>
              <a:t>[</a:t>
            </a:r>
            <a:r>
              <a:rPr lang="fr-FR" sz="612" b="0" i="1" dirty="0" err="1">
                <a:effectLst/>
              </a:rPr>
              <a:t>yc</a:t>
            </a:r>
            <a:r>
              <a:rPr lang="fr-FR" sz="612" b="0" i="1" dirty="0">
                <a:effectLst/>
              </a:rPr>
              <a:t> assurance]</a:t>
            </a:r>
          </a:p>
          <a:p>
            <a:pPr lvl="1" fontAlgn="b">
              <a:lnSpc>
                <a:spcPct val="17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Carte de tourisme  + Tous transferts aéroport</a:t>
            </a:r>
          </a:p>
          <a:p>
            <a:pPr lvl="1" fontAlgn="b">
              <a:lnSpc>
                <a:spcPct val="17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Logement chez l’habitant </a:t>
            </a:r>
            <a:r>
              <a:rPr lang="fr-FR" sz="612" b="0" i="1" dirty="0">
                <a:effectLst/>
              </a:rPr>
              <a:t>[base chambre double]  </a:t>
            </a:r>
            <a:r>
              <a:rPr lang="fr-FR" sz="816" b="0" dirty="0">
                <a:effectLst/>
              </a:rPr>
              <a:t>en ½ pension</a:t>
            </a:r>
            <a:endParaRPr lang="fr-FR" sz="816" b="0" i="1" dirty="0">
              <a:effectLst/>
            </a:endParaRPr>
          </a:p>
          <a:p>
            <a:pPr lvl="1" fontAlgn="b">
              <a:lnSpc>
                <a:spcPct val="150000"/>
              </a:lnSpc>
              <a:buFontTx/>
              <a:buChar char="•"/>
              <a:defRPr/>
            </a:pPr>
            <a:r>
              <a:rPr lang="en-GB" sz="816" b="0" dirty="0">
                <a:effectLst/>
              </a:rPr>
              <a:t> </a:t>
            </a:r>
            <a:r>
              <a:rPr lang="fr-FR" sz="816" b="0" dirty="0">
                <a:effectLst/>
              </a:rPr>
              <a:t>12 étapes vélo + 1 transfert</a:t>
            </a:r>
            <a:endParaRPr lang="fr-FR" sz="816" b="0" dirty="0">
              <a:solidFill>
                <a:srgbClr val="FF0000"/>
              </a:solidFill>
              <a:effectLst/>
            </a:endParaRPr>
          </a:p>
          <a:p>
            <a:pPr lvl="1" fontAlgn="b">
              <a:lnSpc>
                <a:spcPct val="15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1 soirée dîner « Spécial-cubaine »</a:t>
            </a:r>
          </a:p>
          <a:p>
            <a:pPr lvl="1" fontAlgn="b">
              <a:lnSpc>
                <a:spcPct val="15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1 soirée « </a:t>
            </a:r>
            <a:r>
              <a:rPr lang="fr-FR" sz="816" b="0" dirty="0" err="1">
                <a:effectLst/>
              </a:rPr>
              <a:t>Despedida</a:t>
            </a:r>
            <a:r>
              <a:rPr lang="fr-FR" sz="816" b="0" dirty="0">
                <a:effectLst/>
              </a:rPr>
              <a:t> »</a:t>
            </a:r>
          </a:p>
          <a:p>
            <a:pPr lvl="1" fontAlgn="b">
              <a:lnSpc>
                <a:spcPct val="15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Journée « paysanne » avec cochon de lait grillé</a:t>
            </a:r>
          </a:p>
          <a:p>
            <a:pPr lvl="1" fontAlgn="b">
              <a:lnSpc>
                <a:spcPct val="150000"/>
              </a:lnSpc>
              <a:buFontTx/>
              <a:buChar char="•"/>
              <a:defRPr/>
            </a:pPr>
            <a:r>
              <a:rPr lang="fr-FR" sz="816" b="0" dirty="0">
                <a:effectLst/>
              </a:rPr>
              <a:t> Visite des villes étapes</a:t>
            </a:r>
          </a:p>
        </p:txBody>
      </p:sp>
      <p:pic>
        <p:nvPicPr>
          <p:cNvPr id="3077" name="Picture 2" descr="http://www.123cuba.eu/drapeau_cub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0406" y="5221818"/>
            <a:ext cx="721453" cy="36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8" descr="Hotel Naciona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8232" y="2632913"/>
            <a:ext cx="1833230" cy="1226469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3079" name="Picture 10" descr="Dans les ruelles de trinida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8232" y="3843659"/>
            <a:ext cx="1831380" cy="1221844"/>
          </a:xfrm>
          <a:prstGeom prst="rect">
            <a:avLst/>
          </a:prstGeom>
          <a:noFill/>
          <a:ln w="1587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9" name="AutoShape 15"/>
          <p:cNvSpPr>
            <a:spLocks noChangeArrowheads="1"/>
          </p:cNvSpPr>
          <p:nvPr/>
        </p:nvSpPr>
        <p:spPr bwMode="auto">
          <a:xfrm rot="-937415">
            <a:off x="3694208" y="1888337"/>
            <a:ext cx="898116" cy="784348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165" dirty="0">
                <a:solidFill>
                  <a:schemeClr val="hlink"/>
                </a:solidFill>
                <a:effectLst/>
              </a:rPr>
              <a:t>3 500 €</a:t>
            </a:r>
            <a:endParaRPr lang="en-GB" sz="1165" dirty="0">
              <a:solidFill>
                <a:schemeClr val="hlink"/>
              </a:solidFill>
              <a:effectLst/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46290" y="2461799"/>
            <a:ext cx="868518" cy="267307"/>
          </a:xfrm>
          <a:prstGeom prst="ellipse">
            <a:avLst/>
          </a:prstGeom>
          <a:solidFill>
            <a:srgbClr val="F4F4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sz="816" dirty="0">
                <a:solidFill>
                  <a:schemeClr val="bg1"/>
                </a:solidFill>
                <a:effectLst/>
              </a:rPr>
              <a:t>22 Jours</a:t>
            </a:r>
            <a:endParaRPr lang="fr-FR" sz="816" b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Budget : </a:t>
            </a:r>
            <a:r>
              <a:rPr lang="fr-FR" sz="1398" dirty="0">
                <a:solidFill>
                  <a:srgbClr val="FF0000"/>
                </a:solidFill>
                <a:effectLst/>
                <a:latin typeface="Tahoma" charset="0"/>
                <a:ea typeface="MS PGothic" charset="0"/>
              </a:rPr>
              <a:t>3 500 € </a:t>
            </a:r>
            <a:r>
              <a:rPr lang="fr-FR" sz="1049" dirty="0">
                <a:solidFill>
                  <a:srgbClr val="FF0000"/>
                </a:solidFill>
                <a:effectLst/>
                <a:latin typeface="Tahoma" charset="0"/>
                <a:ea typeface="MS PGothic" charset="0"/>
              </a:rPr>
              <a:t>(22 jours / 21 nuits)</a:t>
            </a:r>
            <a:endParaRPr lang="en-GB" sz="1049" dirty="0">
              <a:solidFill>
                <a:srgbClr val="FF0000"/>
              </a:solidFill>
              <a:effectLst/>
              <a:latin typeface="Tahoma" charset="0"/>
              <a:ea typeface="MS PGothic" charset="0"/>
            </a:endParaRPr>
          </a:p>
        </p:txBody>
      </p:sp>
      <p:sp>
        <p:nvSpPr>
          <p:cNvPr id="172034" name="Rectangle 6"/>
          <p:cNvSpPr>
            <a:spLocks noChangeArrowheads="1"/>
          </p:cNvSpPr>
          <p:nvPr/>
        </p:nvSpPr>
        <p:spPr bwMode="auto">
          <a:xfrm>
            <a:off x="356318" y="2122628"/>
            <a:ext cx="4721615" cy="3229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Vol A/R Paris - La Havane </a:t>
            </a:r>
            <a:r>
              <a:rPr lang="fr-FR" sz="816" b="0" i="1" dirty="0">
                <a:solidFill>
                  <a:srgbClr val="000000"/>
                </a:solidFill>
                <a:effectLst/>
              </a:rPr>
              <a:t>(y </a:t>
            </a:r>
            <a:r>
              <a:rPr lang="fr-FR" sz="816" b="0" i="1" dirty="0" err="1">
                <a:solidFill>
                  <a:srgbClr val="000000"/>
                </a:solidFill>
                <a:effectLst/>
              </a:rPr>
              <a:t>comprsis</a:t>
            </a:r>
            <a:r>
              <a:rPr lang="fr-FR" sz="816" b="0" i="1" dirty="0">
                <a:solidFill>
                  <a:srgbClr val="000000"/>
                </a:solidFill>
                <a:effectLst/>
              </a:rPr>
              <a:t> assurance)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Taxes aéroport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Carte de tourisme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Transferts aéroport, taxis, bus 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21 nuits chez l’habitant </a:t>
            </a:r>
            <a:r>
              <a:rPr lang="fr-FR" sz="816" b="0" i="1" dirty="0">
                <a:solidFill>
                  <a:srgbClr val="000000"/>
                </a:solidFill>
                <a:effectLst/>
              </a:rPr>
              <a:t>(base chambre double) + </a:t>
            </a:r>
            <a:r>
              <a:rPr lang="fr-FR" sz="932" b="0" dirty="0">
                <a:solidFill>
                  <a:srgbClr val="000000"/>
                </a:solidFill>
                <a:effectLst/>
              </a:rPr>
              <a:t>petits déjeuners, 21 repas midi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2 soirées spéciales : à la cubaine et </a:t>
            </a:r>
            <a:r>
              <a:rPr lang="fr-FR" sz="932" b="0" dirty="0" err="1">
                <a:solidFill>
                  <a:srgbClr val="000000"/>
                </a:solidFill>
                <a:effectLst/>
              </a:rPr>
              <a:t>despedida</a:t>
            </a:r>
            <a:endParaRPr lang="fr-FR" sz="932" b="0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Visite de La Havane (Vieille Havane, </a:t>
            </a:r>
            <a:r>
              <a:rPr lang="fr-FR" sz="932" b="0" dirty="0" err="1">
                <a:solidFill>
                  <a:srgbClr val="000000"/>
                </a:solidFill>
                <a:effectLst/>
              </a:rPr>
              <a:t>Vedado</a:t>
            </a:r>
            <a:r>
              <a:rPr lang="fr-FR" sz="932" b="0" dirty="0">
                <a:solidFill>
                  <a:srgbClr val="000000"/>
                </a:solidFill>
                <a:effectLst/>
              </a:rPr>
              <a:t>, panoramique, …)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en-GB" sz="932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Peines</a:t>
            </a:r>
            <a:r>
              <a:rPr lang="en-GB" sz="932" b="0" dirty="0">
                <a:solidFill>
                  <a:srgbClr val="000000"/>
                </a:solidFill>
                <a:effectLst/>
              </a:rPr>
              <a:t> et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soins</a:t>
            </a:r>
            <a:r>
              <a:rPr lang="en-GB" sz="932" b="0" dirty="0">
                <a:solidFill>
                  <a:srgbClr val="000000"/>
                </a:solidFill>
                <a:effectLst/>
              </a:rPr>
              <a:t> de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nos</a:t>
            </a:r>
            <a:r>
              <a:rPr lang="en-GB" sz="932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amis</a:t>
            </a:r>
            <a:r>
              <a:rPr lang="en-GB" sz="932" b="0" dirty="0">
                <a:solidFill>
                  <a:srgbClr val="000000"/>
                </a:solidFill>
                <a:effectLst/>
              </a:rPr>
              <a:t>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cubains</a:t>
            </a:r>
            <a:r>
              <a:rPr lang="en-GB" sz="932" b="0" dirty="0">
                <a:solidFill>
                  <a:srgbClr val="000000"/>
                </a:solidFill>
                <a:effectLst/>
              </a:rPr>
              <a:t>, </a:t>
            </a:r>
            <a:r>
              <a:rPr lang="en-GB" sz="932" b="0" dirty="0" err="1">
                <a:solidFill>
                  <a:srgbClr val="000000"/>
                </a:solidFill>
                <a:effectLst/>
              </a:rPr>
              <a:t>cadeaux</a:t>
            </a:r>
            <a:endParaRPr lang="en-GB" sz="932" b="0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150000"/>
              </a:lnSpc>
              <a:buFontTx/>
              <a:buChar char="•"/>
            </a:pPr>
            <a:r>
              <a:rPr lang="fr-FR" sz="932" b="0" dirty="0">
                <a:solidFill>
                  <a:srgbClr val="000000"/>
                </a:solidFill>
                <a:effectLst/>
              </a:rPr>
              <a:t> Frais prestation diverses</a:t>
            </a:r>
          </a:p>
          <a:p>
            <a:pPr fontAlgn="b">
              <a:lnSpc>
                <a:spcPct val="150000"/>
              </a:lnSpc>
              <a:buFontTx/>
              <a:buChar char="•"/>
            </a:pPr>
            <a:endParaRPr lang="fr-FR" sz="932" b="0" i="1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150000"/>
              </a:lnSpc>
              <a:buFontTx/>
              <a:buChar char="•"/>
            </a:pPr>
            <a:endParaRPr lang="fr-FR" sz="932" b="0" i="1" dirty="0">
              <a:solidFill>
                <a:srgbClr val="000000"/>
              </a:solidFill>
              <a:effectLst/>
            </a:endParaRPr>
          </a:p>
          <a:p>
            <a:pPr fontAlgn="b">
              <a:lnSpc>
                <a:spcPct val="150000"/>
              </a:lnSpc>
              <a:buFontTx/>
              <a:buChar char="•"/>
            </a:pPr>
            <a:endParaRPr lang="en-GB" sz="816" b="0" i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172035" name="Picture 1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3121673" y="2780896"/>
            <a:ext cx="1623280" cy="503456"/>
          </a:xfrm>
          <a:prstGeom prst="rect">
            <a:avLst/>
          </a:prstGeom>
          <a:solidFill>
            <a:srgbClr val="CCFF99"/>
          </a:solidFill>
          <a:ln w="28575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 typeface="Arial" charset="0"/>
              <a:buChar char="•"/>
            </a:pPr>
            <a:r>
              <a:rPr lang="fr-FR" sz="699" b="0" dirty="0">
                <a:solidFill>
                  <a:srgbClr val="CC0000"/>
                </a:solidFill>
                <a:effectLst/>
              </a:rPr>
              <a:t> </a:t>
            </a:r>
            <a:r>
              <a:rPr lang="fr-FR" sz="699" dirty="0">
                <a:solidFill>
                  <a:srgbClr val="CC0000"/>
                </a:solidFill>
                <a:effectLst/>
              </a:rPr>
              <a:t>Acompte</a:t>
            </a:r>
            <a:r>
              <a:rPr lang="fr-FR" sz="699" b="0" dirty="0">
                <a:solidFill>
                  <a:srgbClr val="CC0000"/>
                </a:solidFill>
                <a:effectLst/>
              </a:rPr>
              <a:t> : vol, visa, location voiture</a:t>
            </a:r>
            <a:endParaRPr lang="fr-FR" sz="699" b="0" i="1" dirty="0">
              <a:solidFill>
                <a:srgbClr val="CC0000"/>
              </a:solidFill>
              <a:effectLst/>
            </a:endParaRPr>
          </a:p>
          <a:p>
            <a:endParaRPr lang="fr-FR" sz="699" b="0" dirty="0">
              <a:solidFill>
                <a:srgbClr val="CC0000"/>
              </a:solidFill>
              <a:effectLst/>
            </a:endParaRPr>
          </a:p>
          <a:p>
            <a:pPr>
              <a:buFont typeface="Arial" charset="0"/>
              <a:buChar char="•"/>
            </a:pPr>
            <a:r>
              <a:rPr lang="fr-FR" sz="699" b="0" dirty="0">
                <a:solidFill>
                  <a:srgbClr val="CC0000"/>
                </a:solidFill>
                <a:effectLst/>
              </a:rPr>
              <a:t> </a:t>
            </a:r>
            <a:r>
              <a:rPr lang="fr-FR" sz="699" dirty="0">
                <a:solidFill>
                  <a:srgbClr val="CC0000"/>
                </a:solidFill>
                <a:effectLst/>
              </a:rPr>
              <a:t>Solde</a:t>
            </a:r>
            <a:r>
              <a:rPr lang="fr-FR" sz="699" b="0" dirty="0">
                <a:solidFill>
                  <a:srgbClr val="CC0000"/>
                </a:solidFill>
                <a:effectLst/>
              </a:rPr>
              <a:t> : avant le départ</a:t>
            </a:r>
            <a:r>
              <a:rPr lang="fr-FR" sz="612" b="0" i="1" dirty="0">
                <a:solidFill>
                  <a:srgbClr val="CC0000"/>
                </a:solidFill>
                <a:effectLst/>
              </a:rPr>
              <a:t> (en espèces)</a:t>
            </a:r>
            <a:endParaRPr lang="fr-FR" sz="699" i="1" baseline="30000" dirty="0">
              <a:solidFill>
                <a:srgbClr val="CC0000"/>
              </a:solidFill>
              <a:effectLst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Benchmarking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pic>
        <p:nvPicPr>
          <p:cNvPr id="1822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1340" y="2281425"/>
            <a:ext cx="4693588" cy="236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22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14620" y="4404176"/>
            <a:ext cx="3113345" cy="121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082" name="Picture 19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275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4849" y="4570666"/>
            <a:ext cx="1710953" cy="83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edg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Suivi Budget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178178" name="Object 65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859378"/>
              </p:ext>
            </p:extLst>
          </p:nvPr>
        </p:nvGraphicFramePr>
        <p:xfrm>
          <a:off x="557739" y="2723557"/>
          <a:ext cx="4342589" cy="1548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4" name="Worksheet" r:id="rId4" imgW="6343578" imgH="2247995" progId="Excel.Sheet.8">
                  <p:embed/>
                </p:oleObj>
              </mc:Choice>
              <mc:Fallback>
                <p:oleObj name="Worksheet" r:id="rId4" imgW="6343578" imgH="2247995" progId="Excel.Sheet.8">
                  <p:embed/>
                  <p:pic>
                    <p:nvPicPr>
                      <p:cNvPr id="0" name="Picture 30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39" y="2723557"/>
                        <a:ext cx="4342589" cy="1548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8179" name="Picture 106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Prochaine réunion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graphicFrame>
        <p:nvGraphicFramePr>
          <p:cNvPr id="216082" name="Group 18"/>
          <p:cNvGraphicFramePr>
            <a:graphicFrameLocks noGrp="1"/>
          </p:cNvGraphicFramePr>
          <p:nvPr>
            <p:ph type="tbl" idx="1"/>
          </p:nvPr>
        </p:nvGraphicFramePr>
        <p:xfrm>
          <a:off x="320029" y="2457174"/>
          <a:ext cx="4794885" cy="2754469"/>
        </p:xfrm>
        <a:graphic>
          <a:graphicData uri="http://schemas.openxmlformats.org/drawingml/2006/table">
            <a:tbl>
              <a:tblPr/>
              <a:tblGrid>
                <a:gridCol w="479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8580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1" i="0" u="sng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Mardi 9 décembre 2008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sng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1" i="0" u="sng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200" b="0" i="1" u="sng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Ordre du jour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Photos de vos « appartements » et de vos hôtes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Proposition du programme définitif (vote à l‘unanimité)</a:t>
                      </a:r>
                    </a:p>
                    <a:p>
                      <a:pPr marL="457200" marR="0" lvl="1" indent="0" algn="l" defTabSz="914400" rtl="0" eaLnBrk="1" fontAlgn="b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fr-F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MS PGothic" charset="0"/>
                          <a:cs typeface="MS PGothic" charset="0"/>
                        </a:rPr>
                        <a:t> Présentation des professeurs, cuisinières, « bodyguard »</a:t>
                      </a: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889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2277" name="Picture 17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</p:spPr>
        <p:txBody>
          <a:bodyPr/>
          <a:lstStyle/>
          <a:p>
            <a:pPr eaLnBrk="1" hangingPunct="1"/>
            <a:r>
              <a:rPr lang="fr-FR" sz="1398">
                <a:effectLst/>
                <a:latin typeface="Tahoma" charset="0"/>
                <a:ea typeface="MS PGothic" charset="0"/>
              </a:rPr>
              <a:t>Prochaine réunion</a:t>
            </a:r>
            <a:endParaRPr lang="en-GB" sz="1398">
              <a:effectLst/>
              <a:latin typeface="Tahoma" charset="0"/>
              <a:ea typeface="MS PGothic" charset="0"/>
            </a:endParaRPr>
          </a:p>
        </p:txBody>
      </p:sp>
      <p:sp>
        <p:nvSpPr>
          <p:cNvPr id="184322" name="Rectangle 6"/>
          <p:cNvSpPr>
            <a:spLocks noChangeArrowheads="1"/>
          </p:cNvSpPr>
          <p:nvPr/>
        </p:nvSpPr>
        <p:spPr bwMode="auto">
          <a:xfrm>
            <a:off x="320029" y="2457174"/>
            <a:ext cx="4794885" cy="250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1" fontAlgn="b">
              <a:lnSpc>
                <a:spcPct val="80000"/>
              </a:lnSpc>
            </a:pPr>
            <a:endParaRPr lang="fr-FR" sz="1049" b="0" dirty="0">
              <a:effectLst/>
            </a:endParaRPr>
          </a:p>
          <a:p>
            <a:pPr algn="ctr" fontAlgn="b">
              <a:lnSpc>
                <a:spcPct val="80000"/>
              </a:lnSpc>
            </a:pPr>
            <a:r>
              <a:rPr lang="fr-FR" sz="1398" b="0" dirty="0">
                <a:solidFill>
                  <a:srgbClr val="000000"/>
                </a:solidFill>
                <a:effectLst/>
              </a:rPr>
              <a:t> </a:t>
            </a:r>
            <a:r>
              <a:rPr lang="fr-FR" sz="1398" u="sng" dirty="0">
                <a:solidFill>
                  <a:srgbClr val="FF0000"/>
                </a:solidFill>
                <a:effectLst/>
              </a:rPr>
              <a:t>31 mars 2016</a:t>
            </a:r>
          </a:p>
          <a:p>
            <a:pPr algn="ctr" fontAlgn="b">
              <a:lnSpc>
                <a:spcPct val="80000"/>
              </a:lnSpc>
            </a:pPr>
            <a:endParaRPr lang="fr-FR" sz="1398" u="sng" dirty="0">
              <a:solidFill>
                <a:srgbClr val="FF0000"/>
              </a:solidFill>
              <a:effectLst/>
            </a:endParaRPr>
          </a:p>
          <a:p>
            <a:pPr fontAlgn="b">
              <a:lnSpc>
                <a:spcPct val="80000"/>
              </a:lnSpc>
            </a:pPr>
            <a:endParaRPr lang="fr-FR" sz="1398" u="sng" dirty="0">
              <a:solidFill>
                <a:srgbClr val="FF0000"/>
              </a:solidFill>
              <a:effectLst/>
            </a:endParaRPr>
          </a:p>
          <a:p>
            <a:pPr fontAlgn="b">
              <a:lnSpc>
                <a:spcPct val="80000"/>
              </a:lnSpc>
            </a:pPr>
            <a:endParaRPr lang="fr-FR" sz="1398" u="sng" dirty="0">
              <a:solidFill>
                <a:srgbClr val="FF0000"/>
              </a:solidFill>
              <a:effectLst/>
            </a:endParaRPr>
          </a:p>
          <a:p>
            <a:pPr fontAlgn="b">
              <a:lnSpc>
                <a:spcPct val="80000"/>
              </a:lnSpc>
            </a:pPr>
            <a:r>
              <a:rPr lang="fr-FR" sz="1165" b="0" i="1" u="sng" dirty="0">
                <a:effectLst/>
              </a:rPr>
              <a:t>Ordre du jour</a:t>
            </a:r>
            <a:endParaRPr lang="fr-FR" sz="1398" dirty="0">
              <a:solidFill>
                <a:srgbClr val="FF0000"/>
              </a:solidFill>
              <a:effectLst/>
            </a:endParaRPr>
          </a:p>
          <a:p>
            <a:pPr lvl="1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effectLst/>
              </a:rPr>
              <a:t>  Ultimes points de détail</a:t>
            </a:r>
          </a:p>
          <a:p>
            <a:pPr lvl="1" fontAlgn="b">
              <a:lnSpc>
                <a:spcPct val="200000"/>
              </a:lnSpc>
              <a:buClr>
                <a:schemeClr val="bg1"/>
              </a:buClr>
              <a:buFontTx/>
              <a:buChar char="•"/>
            </a:pPr>
            <a:r>
              <a:rPr lang="fr-FR" sz="1165" b="0" dirty="0">
                <a:effectLst/>
              </a:rPr>
              <a:t>  Remise du Visa</a:t>
            </a:r>
            <a:endParaRPr lang="fr-FR" sz="816" b="0" i="1" dirty="0">
              <a:effectLst/>
            </a:endParaRPr>
          </a:p>
          <a:p>
            <a:pPr lvl="1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effectLst/>
              </a:rPr>
              <a:t>  Remise de la documentation</a:t>
            </a:r>
          </a:p>
          <a:p>
            <a:pPr lvl="1" fontAlgn="b">
              <a:lnSpc>
                <a:spcPct val="200000"/>
              </a:lnSpc>
              <a:buFontTx/>
              <a:buChar char="•"/>
            </a:pPr>
            <a:r>
              <a:rPr lang="fr-FR" sz="1165" b="0" dirty="0">
                <a:effectLst/>
              </a:rPr>
              <a:t>  Versement du solde coût voyage </a:t>
            </a:r>
            <a:r>
              <a:rPr lang="fr-FR" sz="1165" b="0" i="1" dirty="0">
                <a:effectLst/>
              </a:rPr>
              <a:t>(espèces €)</a:t>
            </a:r>
          </a:p>
        </p:txBody>
      </p:sp>
      <p:pic>
        <p:nvPicPr>
          <p:cNvPr id="184323" name="Picture 2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403" y="5320786"/>
            <a:ext cx="810247" cy="294131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382" y="1952157"/>
            <a:ext cx="4872580" cy="401424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3277" tIns="26638" rIns="53277" bIns="266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z="1398" dirty="0">
                <a:effectLst/>
                <a:latin typeface="Tahoma" charset="0"/>
                <a:ea typeface="MS PGothic" charset="0"/>
              </a:rPr>
              <a:t>Vidéo « Cuba </a:t>
            </a:r>
            <a:r>
              <a:rPr lang="fr-FR" sz="1398" dirty="0" err="1">
                <a:effectLst/>
                <a:latin typeface="Tahoma" charset="0"/>
                <a:ea typeface="MS PGothic" charset="0"/>
              </a:rPr>
              <a:t>Auténtica</a:t>
            </a:r>
            <a:r>
              <a:rPr lang="fr-FR" sz="1398" dirty="0">
                <a:effectLst/>
                <a:latin typeface="Tahoma" charset="0"/>
                <a:ea typeface="MS PGothic" charset="0"/>
              </a:rPr>
              <a:t> » !</a:t>
            </a:r>
            <a:endParaRPr lang="en-GB" sz="1398" dirty="0">
              <a:effectLst/>
              <a:latin typeface="Tahoma" charset="0"/>
              <a:ea typeface="MS PGothic" charset="0"/>
            </a:endParaRPr>
          </a:p>
        </p:txBody>
      </p:sp>
      <p:grpSp>
        <p:nvGrpSpPr>
          <p:cNvPr id="3" name="Grouper 2"/>
          <p:cNvGrpSpPr/>
          <p:nvPr/>
        </p:nvGrpSpPr>
        <p:grpSpPr>
          <a:xfrm>
            <a:off x="1831091" y="3415420"/>
            <a:ext cx="1665470" cy="603894"/>
            <a:chOff x="2989876" y="2803541"/>
            <a:chExt cx="2858495" cy="1036480"/>
          </a:xfrm>
        </p:grpSpPr>
        <p:pic>
          <p:nvPicPr>
            <p:cNvPr id="18434" name="Picture 9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4311" y="2803541"/>
              <a:ext cx="2854060" cy="103606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6" name="Rectangle 6"/>
            <p:cNvSpPr>
              <a:spLocks noChangeArrowheads="1"/>
            </p:cNvSpPr>
            <p:nvPr/>
          </p:nvSpPr>
          <p:spPr bwMode="auto">
            <a:xfrm>
              <a:off x="2989876" y="3496881"/>
              <a:ext cx="1765300" cy="34314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222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fr-FR" sz="699" b="0" dirty="0">
                  <a:solidFill>
                    <a:srgbClr val="000000"/>
                  </a:solidFill>
                  <a:effectLst/>
                  <a:hlinkClick r:id="rId5"/>
                </a:rPr>
                <a:t>Cuba Auténtica</a:t>
              </a:r>
              <a:endParaRPr lang="fr-FR" sz="699" b="0" dirty="0">
                <a:solidFill>
                  <a:srgbClr val="000000"/>
                </a:solidFill>
                <a:effectLst/>
              </a:endParaRPr>
            </a:p>
          </p:txBody>
        </p:sp>
      </p:grp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>
    <p:wedg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66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>
                <a:ea typeface="+mj-ea"/>
              </a:rPr>
              <a:t> </a:t>
            </a:r>
            <a:endParaRPr lang="en-GB">
              <a:ea typeface="+mj-ea"/>
            </a:endParaRPr>
          </a:p>
        </p:txBody>
      </p:sp>
      <p:graphicFrame>
        <p:nvGraphicFramePr>
          <p:cNvPr id="206900" name="Group 5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57544793"/>
              </p:ext>
            </p:extLst>
          </p:nvPr>
        </p:nvGraphicFramePr>
        <p:xfrm>
          <a:off x="457830" y="3946328"/>
          <a:ext cx="4166975" cy="1211670"/>
        </p:xfrm>
        <a:graphic>
          <a:graphicData uri="http://schemas.openxmlformats.org/drawingml/2006/table">
            <a:tbl>
              <a:tblPr/>
              <a:tblGrid>
                <a:gridCol w="41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30382">
                <a:tc>
                  <a:txBody>
                    <a:bodyPr/>
                    <a:lstStyle/>
                    <a:p>
                      <a:pPr marL="457200" marR="0" lvl="1" indent="0" algn="ctr" defTabSz="914400" rtl="0" eaLnBrk="1" fontAlgn="b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glow rad="101600">
                              <a:srgbClr val="FF0000">
                                <a:alpha val="75000"/>
                              </a:srgbClr>
                            </a:glow>
                          </a:effectLst>
                          <a:latin typeface="Arial Black"/>
                          <a:ea typeface="MS PGothic" charset="0"/>
                          <a:cs typeface="Arial Unicode MS"/>
                        </a:rPr>
                        <a:t> Bon « coup de pédale » sur les routes des </a:t>
                      </a:r>
                      <a:r>
                        <a:rPr kumimoji="0" lang="fr-FR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glow rad="139700">
                              <a:srgbClr val="FF0000"/>
                            </a:glow>
                          </a:effectLst>
                          <a:latin typeface="Arial Black"/>
                          <a:ea typeface="MS PGothic" charset="0"/>
                          <a:cs typeface="Arial Unicode MS"/>
                        </a:rPr>
                        <a:t>Caraïbes</a:t>
                      </a:r>
                      <a:r>
                        <a:rPr kumimoji="0" lang="fr-FR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glow rad="101600">
                              <a:srgbClr val="FF0000">
                                <a:alpha val="75000"/>
                              </a:srgbClr>
                            </a:glow>
                          </a:effectLst>
                          <a:latin typeface="Arial Black"/>
                          <a:ea typeface="MS PGothic" charset="0"/>
                          <a:cs typeface="Arial Unicode MS"/>
                        </a:rPr>
                        <a:t> !</a:t>
                      </a:r>
                      <a:endParaRPr kumimoji="0" lang="en-GB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glow rad="101600">
                            <a:srgbClr val="FF0000">
                              <a:alpha val="75000"/>
                            </a:srgbClr>
                          </a:glow>
                        </a:effectLst>
                        <a:latin typeface="Arial Black"/>
                        <a:ea typeface="MS PGothic" charset="0"/>
                        <a:cs typeface="Arial Unicode MS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88">
                <a:tc>
                  <a:txBody>
                    <a:bodyPr/>
                    <a:lstStyle/>
                    <a:p>
                      <a:pPr marL="457200" marR="0" lvl="1" indent="0" algn="l" defTabSz="914400" rtl="0" eaLnBrk="1" fontAlgn="b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charset="0"/>
                        <a:ea typeface="MS PGothic" charset="0"/>
                        <a:cs typeface="MS PGothic" charset="0"/>
                      </a:endParaRPr>
                    </a:p>
                  </a:txBody>
                  <a:tcPr marL="53277" marR="53277" marT="26638" marB="26638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6893" name="Picture 45" descr="Image:Flag of Cuba.sv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0026" y="2481998"/>
            <a:ext cx="3159926" cy="1579963"/>
          </a:xfr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0"/>
                                        <p:tgtEl>
                                          <p:spTgt spid="20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20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>
            <a:alpha val="49019"/>
          </a:srgbClr>
        </a:solidFill>
        <a:ln w="9525">
          <a:solidFill>
            <a:schemeClr val="tx1"/>
          </a:solidFill>
          <a:miter lim="800000"/>
          <a:headEnd/>
          <a:tailEnd/>
        </a:ln>
      </a:spPr>
      <a:bodyPr wrap="none" anchor="ctr"/>
      <a:lstStyle>
        <a:defPPr>
          <a:defRPr sz="1000" dirty="0"/>
        </a:defPPr>
      </a:lstStyle>
    </a:sp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cean 1">
    <a:dk1>
      <a:srgbClr val="010199"/>
    </a:dk1>
    <a:lt1>
      <a:srgbClr val="FFFFFF"/>
    </a:lt1>
    <a:dk2>
      <a:srgbClr val="000099"/>
    </a:dk2>
    <a:lt2>
      <a:srgbClr val="FFFFFF"/>
    </a:lt2>
    <a:accent1>
      <a:srgbClr val="33CCCC"/>
    </a:accent1>
    <a:accent2>
      <a:srgbClr val="00C600"/>
    </a:accent2>
    <a:accent3>
      <a:srgbClr val="AAAACA"/>
    </a:accent3>
    <a:accent4>
      <a:srgbClr val="DADADA"/>
    </a:accent4>
    <a:accent5>
      <a:srgbClr val="ADE2E2"/>
    </a:accent5>
    <a:accent6>
      <a:srgbClr val="00B300"/>
    </a:accent6>
    <a:hlink>
      <a:srgbClr val="FFCC00"/>
    </a:hlink>
    <a:folHlink>
      <a:srgbClr val="6699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T_Geode_Standard" ma:contentTypeID="0x010100A0DF49810C1D4A4EB1F2CA0F5C5C9D5700BE3BA4BF2102764883911C8A65EC9D32" ma:contentTypeVersion="3" ma:contentTypeDescription="Crée un document." ma:contentTypeScope="" ma:versionID="ce4affd426f86a838b0b490327cbf918">
  <xsd:schema xmlns:xsd="http://www.w3.org/2001/XMLSchema" xmlns:xs="http://www.w3.org/2001/XMLSchema" xmlns:p="http://schemas.microsoft.com/office/2006/metadata/properties" xmlns:ns2="30ddebdd-6be9-417c-af85-810e0a88a2d2" targetNamespace="http://schemas.microsoft.com/office/2006/metadata/properties" ma:root="true" ma:fieldsID="2021c88920ad88bfdd378e66eab4c0aa" ns2:_="">
    <xsd:import namespace="30ddebdd-6be9-417c-af85-810e0a88a2d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GeodeOrigin" minOccurs="0"/>
                <xsd:element ref="ns2:GeodeDocumentTypeTaxHTField0" minOccurs="0"/>
                <xsd:element ref="ns2:TaxCatchAll" minOccurs="0"/>
                <xsd:element ref="ns2:TaxCatchAllLabel" minOccurs="0"/>
                <xsd:element ref="ns2:GeodeAuthor" minOccurs="0"/>
                <xsd:element ref="ns2:GeodeCompany" minOccurs="0"/>
                <xsd:element ref="ns2:GeodeSentEntityTaxHTField0" minOccurs="0"/>
                <xsd:element ref="ns2:GeodeManagedEntityTaxHTField0" minOccurs="0"/>
                <xsd:element ref="ns2:GeodeReceiver" minOccurs="0"/>
                <xsd:element ref="ns2:GeodeTranslation" minOccurs="0"/>
                <xsd:element ref="ns2:GeodeLanguageTaxHTField0" minOccurs="0"/>
                <xsd:element ref="ns2:GeodeReference" minOccurs="0"/>
                <xsd:element ref="ns2:GeodeVersion" minOccurs="0"/>
                <xsd:element ref="ns2:GeodeSpecialityTaxHTField0" minOccurs="0"/>
                <xsd:element ref="ns2:GeodeComments" minOccurs="0"/>
                <xsd:element ref="ns2:GeodeValidityBegin" minOccurs="0"/>
                <xsd:element ref="ns2:GeodeValidityEnd" minOccurs="0"/>
                <xsd:element ref="ns2:GeodePCDAvailability" minOccurs="0"/>
                <xsd:element ref="ns2:GeodePCDEvidence" minOccurs="0"/>
                <xsd:element ref="ns2:GeodePCDIntegrity" minOccurs="0"/>
                <xsd:element ref="ns2:GeodePCDPrivacy" minOccurs="0"/>
                <xsd:element ref="ns2:GeodeStatusTaxHTField0" minOccurs="0"/>
                <xsd:element ref="ns2:GeodeArchivingDate" minOccurs="0"/>
                <xsd:element ref="ns2:GeodeArchivingSpaceTaxHTField0" minOccurs="0"/>
                <xsd:element ref="ns2:GeodeDestroyedDate" minOccurs="0"/>
                <xsd:element ref="ns2:GeodePCDDestructionDate" minOccurs="0"/>
                <xsd:element ref="ns2:GeodePCDFinalStatus" minOccurs="0"/>
                <xsd:element ref="ns2:GeodePCDFinalStatusDescription" minOccurs="0"/>
                <xsd:element ref="ns2:GeodeSentApprovalDate" minOccurs="0"/>
                <xsd:element ref="ns2:GeodeApprovalDate" minOccurs="0"/>
                <xsd:element ref="ns2:GeodeApprovalUser" minOccurs="0"/>
                <xsd:element ref="ns2:GeodePeriodTaxHTField0" minOccurs="0"/>
                <xsd:element ref="ns2:GeodeGeographyTaxHTField0" minOccurs="0"/>
                <xsd:element ref="ns2:GeodeThemeTaxHTField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ebdd-6be9-417c-af85-810e0a88a2d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9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GeodeOrigin" ma:index="11" nillable="true" ma:displayName="Origine" ma:description="Permet de fournir un identifiant pour regrouper des documents avec un lien commun" ma:internalName="GeodeOrigin">
      <xsd:simpleType>
        <xsd:restriction base="dms:Text">
          <xsd:maxLength value="255"/>
        </xsd:restriction>
      </xsd:simpleType>
    </xsd:element>
    <xsd:element name="GeodeDocumentTypeTaxHTField0" ma:index="12" nillable="true" ma:taxonomy="true" ma:internalName="GeodeDocumentTypeTaxHTField0" ma:taxonomyFieldName="GeodeDocumentType" ma:displayName="Type de document" ma:fieldId="{6b4be1a9-f9b0-4deb-b0ca-9fef0d420b64}" ma:sspId="2806cb34-1c97-4354-bff5-55deb4a9d1c8" ma:termSetId="88d176c6-e4d9-4ee5-ae1b-060cb8b0292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eee7923c-2ac9-423f-8b74-b0a11234d555}" ma:internalName="TaxCatchAll" ma:showField="CatchAllData" ma:web="30ddebdd-6be9-417c-af85-810e0a88a2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eee7923c-2ac9-423f-8b74-b0a11234d555}" ma:internalName="TaxCatchAllLabel" ma:readOnly="true" ma:showField="CatchAllDataLabel" ma:web="30ddebdd-6be9-417c-af85-810e0a88a2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GeodeAuthor" ma:index="16" nillable="true" ma:displayName="Auteur" ma:description="Nom complet du concepteur de document (Peut être différent du rédacteur)" ma:internalName="GeodeAuthor">
      <xsd:simpleType>
        <xsd:restriction base="dms:Text">
          <xsd:maxLength value="255"/>
        </xsd:restriction>
      </xsd:simpleType>
    </xsd:element>
    <xsd:element name="GeodeCompany" ma:index="17" nillable="true" ma:displayName="Compagnie" ma:description="Société juridique de l'auteur (Total S.A., Total E&amp;P Congo, ... )" ma:internalName="GeodeCompany">
      <xsd:simpleType>
        <xsd:restriction base="dms:Text">
          <xsd:maxLength value="255"/>
        </xsd:restriction>
      </xsd:simpleType>
    </xsd:element>
    <xsd:element name="GeodeSentEntityTaxHTField0" ma:index="18" nillable="true" ma:taxonomy="true" ma:internalName="GeodeSentEntityTaxHTField0" ma:taxonomyFieldName="GeodeSentEntity" ma:displayName="Entité émettrice" ma:fieldId="{2efecf26-4a34-46cf-917c-85b063199ec0}" ma:sspId="2806cb34-1c97-4354-bff5-55deb4a9d1c8" ma:termSetId="2277c0f1-64ed-4b02-8733-c83663378f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ManagedEntityTaxHTField0" ma:index="20" nillable="true" ma:taxonomy="true" ma:internalName="GeodeManagedEntityTaxHTField0" ma:taxonomyFieldName="GeodeManagedEntity" ma:displayName="Entité gestionnaire" ma:fieldId="{aa6235c1-6ead-463a-bad8-de116f1872d0}" ma:sspId="2806cb34-1c97-4354-bff5-55deb4a9d1c8" ma:termSetId="2277c0f1-64ed-4b02-8733-c83663378f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Receiver" ma:index="22" nillable="true" ma:displayName="Destinataire" ma:description="Personnes à qui s'adresse le document" ma:internalName="GeodeReceiver">
      <xsd:simpleType>
        <xsd:restriction base="dms:Text">
          <xsd:maxLength value="255"/>
        </xsd:restriction>
      </xsd:simpleType>
    </xsd:element>
    <xsd:element name="GeodeTranslation" ma:index="23" nillable="true" ma:displayName="Original" ma:default="true" ma:description="Détermine si le document est une traduction" ma:internalName="GeodeTranslation">
      <xsd:simpleType>
        <xsd:restriction base="dms:Boolean"/>
      </xsd:simpleType>
    </xsd:element>
    <xsd:element name="GeodeLanguageTaxHTField0" ma:index="24" nillable="true" ma:taxonomy="true" ma:internalName="GeodeLanguageTaxHTField0" ma:taxonomyFieldName="GeodeLanguage" ma:displayName="Langue" ma:fieldId="{22f0bc7f-0346-46e4-8eac-770439a021e5}" ma:sspId="2806cb34-1c97-4354-bff5-55deb4a9d1c8" ma:termSetId="cdae23e5-6b99-427d-a296-b70987044e0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Reference" ma:index="26" nillable="true" ma:displayName="Référence du document" ma:description="Identifiant du document pour l'entité émettrice" ma:internalName="GeodeReference">
      <xsd:simpleType>
        <xsd:restriction base="dms:Text">
          <xsd:maxLength value="255"/>
        </xsd:restriction>
      </xsd:simpleType>
    </xsd:element>
    <xsd:element name="GeodeVersion" ma:index="28" nillable="true" ma:displayName="N° Version" ma:decimals="0" ma:default="1" ma:description="Détermine la version d'un contenu informationnel du document" ma:internalName="GeodeVersion">
      <xsd:simpleType>
        <xsd:restriction base="dms:Number">
          <xsd:maxInclusive value="100"/>
          <xsd:minInclusive value="0"/>
        </xsd:restriction>
      </xsd:simpleType>
    </xsd:element>
    <xsd:element name="GeodeSpecialityTaxHTField0" ma:index="29" nillable="true" ma:taxonomy="true" ma:internalName="GeodeSpecialityTaxHTField0" ma:taxonomyFieldName="GeodeSpeciality" ma:displayName="Métier / Spécialité " ma:fieldId="{e0766e75-ed11-474e-ad92-32d6efe7c644}" ma:sspId="2806cb34-1c97-4354-bff5-55deb4a9d1c8" ma:termSetId="83971267-fa49-45b3-b3ba-df54904005e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Comments" ma:index="31" nillable="true" ma:displayName="Commentaires" ma:description="Commentaire libre concernant le document" ma:internalName="GeodeComments">
      <xsd:simpleType>
        <xsd:restriction base="dms:Note">
          <xsd:maxLength value="255"/>
        </xsd:restriction>
      </xsd:simpleType>
    </xsd:element>
    <xsd:element name="GeodeValidityBegin" ma:index="32" nillable="true" ma:displayName="Date de début de validité" ma:description="Date à partir de laquelle le document est valide." ma:format="DateOnly" ma:internalName="GeodeValidityBegin">
      <xsd:simpleType>
        <xsd:restriction base="dms:DateTime"/>
      </xsd:simpleType>
    </xsd:element>
    <xsd:element name="GeodeValidityEnd" ma:index="33" nillable="true" ma:displayName="Date de fin de validité" ma:description="Date à partir de laquelle le document n'est plus valide.." ma:format="DateOnly" ma:internalName="GeodeValidityEnd">
      <xsd:simpleType>
        <xsd:restriction base="dms:DateTime"/>
      </xsd:simpleType>
    </xsd:element>
    <xsd:element name="GeodePCDAvailability" ma:index="34" nillable="true" ma:displayName="Disponibilité" ma:decimals="0" ma:default="0" ma:description="Donne le niveau de classification du document pour le critère de disponibilité" ma:internalName="GeodePCDAvailability" ma:readOnly="true">
      <xsd:simpleType>
        <xsd:restriction base="dms:Number">
          <xsd:maxInclusive value="100"/>
          <xsd:minInclusive value="0"/>
        </xsd:restriction>
      </xsd:simpleType>
    </xsd:element>
    <xsd:element name="GeodePCDEvidence" ma:index="35" nillable="true" ma:displayName="Preuve" ma:decimals="0" ma:default="0" ma:description="Donne le niveau de classification du document pour le critère de preuve" ma:internalName="GeodePCDEvidence" ma:readOnly="true">
      <xsd:simpleType>
        <xsd:restriction base="dms:Number">
          <xsd:maxInclusive value="100"/>
          <xsd:minInclusive value="0"/>
        </xsd:restriction>
      </xsd:simpleType>
    </xsd:element>
    <xsd:element name="GeodePCDIntegrity" ma:index="36" nillable="true" ma:displayName="Intégrité" ma:decimals="0" ma:default="0" ma:description="Donne le niveau de classification du document pour le critère d'intégrité" ma:internalName="GeodePCDIntegrity" ma:readOnly="true">
      <xsd:simpleType>
        <xsd:restriction base="dms:Number">
          <xsd:maxInclusive value="100"/>
          <xsd:minInclusive value="0"/>
        </xsd:restriction>
      </xsd:simpleType>
    </xsd:element>
    <xsd:element name="GeodePCDPrivacy" ma:index="37" nillable="true" ma:displayName="Confidentialité" ma:decimals="0" ma:default="0" ma:description="Donne le niveau de classification du document pour le critère de confidentialité" ma:internalName="GeodePCDPrivacy" ma:readOnly="true">
      <xsd:simpleType>
        <xsd:restriction base="dms:Number">
          <xsd:maxInclusive value="100"/>
          <xsd:minInclusive value="0"/>
        </xsd:restriction>
      </xsd:simpleType>
    </xsd:element>
    <xsd:element name="GeodeStatusTaxHTField0" ma:index="38" nillable="true" ma:taxonomy="true" ma:internalName="GeodeStatusTaxHTField0" ma:taxonomyFieldName="GeodeStatus" ma:displayName="Statut" ma:readOnly="true" ma:fieldId="{bcabf16c-1246-412e-a167-7ed70939158a}" ma:sspId="2806cb34-1c97-4354-bff5-55deb4a9d1c8" ma:termSetId="d1a8faa6-a2d5-4914-bdef-a4ed3c6970b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ArchivingDate" ma:index="40" nillable="true" ma:displayName="Date d'archivage" ma:description="Date à laquelle le document est archivé." ma:format="DateOnly" ma:internalName="GeodeArchivingDate" ma:readOnly="true">
      <xsd:simpleType>
        <xsd:restriction base="dms:DateTime"/>
      </xsd:simpleType>
    </xsd:element>
    <xsd:element name="GeodeArchivingSpaceTaxHTField0" ma:index="41" nillable="true" ma:taxonomy="true" ma:internalName="GeodeArchivingSpaceTaxHTField0" ma:taxonomyFieldName="GeodeArchivingSpace" ma:displayName="Système d'archivage" ma:fieldId="{53fc4e04-b592-4d4e-b2ea-ff3fd9f1b6ae}" ma:sspId="2806cb34-1c97-4354-bff5-55deb4a9d1c8" ma:termSetId="ade2829f-96a6-4f77-84a9-bddbbbe009b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DestroyedDate" ma:index="43" nillable="true" ma:displayName="Date de destruction effective" ma:description="Date à laquelle le document est réellement détruit." ma:format="DateOnly" ma:internalName="GeodeDestroyedDate" ma:readOnly="true">
      <xsd:simpleType>
        <xsd:restriction base="dms:DateTime"/>
      </xsd:simpleType>
    </xsd:element>
    <xsd:element name="GeodePCDDestructionDate" ma:index="44" nillable="true" ma:displayName="Date de mise en oeuvre du sort final" ma:description="Date de mise en oeuvre du sort final" ma:format="DateOnly" ma:internalName="GeodePCDDestructionDate" ma:readOnly="true">
      <xsd:simpleType>
        <xsd:restriction base="dms:DateTime"/>
      </xsd:simpleType>
    </xsd:element>
    <xsd:element name="GeodePCDFinalStatus" ma:index="45" nillable="true" ma:displayName="Sort final du document" ma:default="d" ma:description="Sort final du document" ma:internalName="GeodePCDFinalStatus" ma:readOnly="true">
      <xsd:simpleType>
        <xsd:restriction base="dms:Text">
          <xsd:maxLength value="255"/>
        </xsd:restriction>
      </xsd:simpleType>
    </xsd:element>
    <xsd:element name="GeodePCDFinalStatusDescription" ma:index="46" nillable="true" ma:displayName="Libellé du sort final du document" ma:description="Sort final du document" ma:internalName="GeodePCDFinalStatusDescription" ma:readOnly="true">
      <xsd:simpleType>
        <xsd:restriction base="dms:Text">
          <xsd:maxLength value="255"/>
        </xsd:restriction>
      </xsd:simpleType>
    </xsd:element>
    <xsd:element name="GeodeSentApprovalDate" ma:index="47" nillable="true" ma:displayName="Date de soumission à approbation" ma:description="Date à laquelle le document est soumis à approbation." ma:format="DateOnly" ma:internalName="GeodeSentApprovalDate" ma:readOnly="true">
      <xsd:simpleType>
        <xsd:restriction base="dms:DateTime"/>
      </xsd:simpleType>
    </xsd:element>
    <xsd:element name="GeodeApprovalDate" ma:index="48" nillable="true" ma:displayName="Date d'approbation" ma:description="Date à laquelle le document est approuvé" ma:format="DateOnly" ma:internalName="GeodeApprovalDate" ma:readOnly="true">
      <xsd:simpleType>
        <xsd:restriction base="dms:DateTime"/>
      </xsd:simpleType>
    </xsd:element>
    <xsd:element name="GeodeApprovalUser" ma:index="49" nillable="true" ma:displayName="Approbateur" ma:description="Identifiant de l'approbateur" ma:list="UserInfo" ma:internalName="GeodeApprovalUse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eodePeriodTaxHTField0" ma:index="50" nillable="true" ma:taxonomy="true" ma:internalName="GeodePeriodTaxHTField0" ma:taxonomyFieldName="GeodePeriod" ma:displayName="Période" ma:fieldId="{3b8e062f-8fad-4d7e-9673-36b680396769}" ma:taxonomyMulti="true" ma:sspId="2806cb34-1c97-4354-bff5-55deb4a9d1c8" ma:termSetId="38dd7ef0-6e43-4bf7-9868-923773a1747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GeographyTaxHTField0" ma:index="52" nillable="true" ma:taxonomy="true" ma:internalName="GeodeGeographyTaxHTField0" ma:taxonomyFieldName="GeodeGeography" ma:displayName="Géographie" ma:fieldId="{dff81932-1a24-4ac1-b244-6e541b326bb1}" ma:taxonomyMulti="true" ma:sspId="2806cb34-1c97-4354-bff5-55deb4a9d1c8" ma:termSetId="91ee5d49-77b5-4154-af91-e1ed43059c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eodeThemeTaxHTField0" ma:index="54" nillable="true" ma:taxonomy="true" ma:internalName="GeodeThemeTaxHTField0" ma:taxonomyFieldName="GeodeTheme" ma:displayName="Thème" ma:fieldId="{6a826bbd-64c4-43c8-86d9-afbdbc71e8b8}" ma:taxonomyMulti="true" ma:sspId="2806cb34-1c97-4354-bff5-55deb4a9d1c8" ma:termSetId="48a8577e-6602-41e7-aade-7887c420dcd6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 ma:index="27" ma:displayName="Mots clé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A890682D-E475-4D63-95BC-90EE8E447A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A73039-05E4-4202-852B-7C148EE69CA8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0872574F-7897-4309-8CA5-6C5299212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debdd-6be9-417c-af85-810e0a88a2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7196C87-0610-439D-A2B2-6B00A06849B5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34042</TotalTime>
  <Words>4159</Words>
  <Application>Microsoft Office PowerPoint</Application>
  <PresentationFormat>Personnalisé</PresentationFormat>
  <Paragraphs>712</Paragraphs>
  <Slides>52</Slides>
  <Notes>52</Notes>
  <HiddenSlides>49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52</vt:i4>
      </vt:variant>
    </vt:vector>
  </HeadingPairs>
  <TitlesOfParts>
    <vt:vector size="68" baseType="lpstr">
      <vt:lpstr>MS PGothic</vt:lpstr>
      <vt:lpstr>MS PGothic</vt:lpstr>
      <vt:lpstr>Arial</vt:lpstr>
      <vt:lpstr>Arial Black</vt:lpstr>
      <vt:lpstr>Arial Unicode MS</vt:lpstr>
      <vt:lpstr>Comic Sans MS</vt:lpstr>
      <vt:lpstr>Segoe Print</vt:lpstr>
      <vt:lpstr>Segoe Script</vt:lpstr>
      <vt:lpstr>Segoe UI</vt:lpstr>
      <vt:lpstr>Tahoma</vt:lpstr>
      <vt:lpstr>Wingdings</vt:lpstr>
      <vt:lpstr>Wingdings 3</vt:lpstr>
      <vt:lpstr>Ocean</vt:lpstr>
      <vt:lpstr>1_Ocean</vt:lpstr>
      <vt:lpstr>Photo Editor Photo</vt:lpstr>
      <vt:lpstr>Worksheet</vt:lpstr>
      <vt:lpstr>Présentation PowerPoint</vt:lpstr>
      <vt:lpstr>Présentation PowerPoint</vt:lpstr>
      <vt:lpstr>Qui suis-je ? Le Concept du séjour</vt:lpstr>
      <vt:lpstr>13ème année !</vt:lpstr>
      <vt:lpstr>Réunions d’information</vt:lpstr>
      <vt:lpstr>Réunion du 2 novembre 2015</vt:lpstr>
      <vt:lpstr>Réunion du 31 mars 2016</vt:lpstr>
      <vt:lpstr>Le Groupe Janvier 2017</vt:lpstr>
      <vt:lpstr>Calendrier 2017</vt:lpstr>
      <vt:lpstr>Calendrier 2017</vt:lpstr>
      <vt:lpstr> Train : Acheminement Paris Montparnasse</vt:lpstr>
      <vt:lpstr> Hôtel et Navettes</vt:lpstr>
      <vt:lpstr> Vol France - Cuba</vt:lpstr>
      <vt:lpstr>Vols Paris Orly  Santiago de Cuba / La Havane  Paris Orly </vt:lpstr>
      <vt:lpstr>Assurance Santé obligatoire</vt:lpstr>
      <vt:lpstr>Les Étapes</vt:lpstr>
      <vt:lpstr>CUBA, Perle des Antilles</vt:lpstr>
      <vt:lpstr>Les Étapes</vt:lpstr>
      <vt:lpstr>Voiture suiveuse !</vt:lpstr>
      <vt:lpstr>Prévisions Météo du 28 avril au 9 mai</vt:lpstr>
      <vt:lpstr>Etapes modifiées !</vt:lpstr>
      <vt:lpstr>Etape 7 - Mercredi 18 Janvier : Holguín – Guardalavaca (A/R) </vt:lpstr>
      <vt:lpstr>Transfert - Jeudi 19 : Holguín - Sancti Spíritus</vt:lpstr>
      <vt:lpstr>Etape 8 – Vendredi  20 Janvier : Sancti Spíritus - Trinidad</vt:lpstr>
      <vt:lpstr>Etape 9 – Dimanche 22 Janvier : Trinidad - Manicaragua</vt:lpstr>
      <vt:lpstr>Etape 10 – Lundi 23 Janvier : Manicaragua - Cascajal</vt:lpstr>
      <vt:lpstr>Etape 11 – Mardi 24 Janvier : Cascajal - Matanzas</vt:lpstr>
      <vt:lpstr>Etape 12 – Mercredi 25 Janvier : Matanzas - La Havane</vt:lpstr>
      <vt:lpstr>Logement</vt:lpstr>
      <vt:lpstr>Informations diverses</vt:lpstr>
      <vt:lpstr>Argent</vt:lpstr>
      <vt:lpstr>Quelques prix…</vt:lpstr>
      <vt:lpstr>… mais attention à une inflation mal maîtrisée ! </vt:lpstr>
      <vt:lpstr>Pratique (1/2)</vt:lpstr>
      <vt:lpstr>Pratique (2/2)</vt:lpstr>
      <vt:lpstr>Quelques précautions</vt:lpstr>
      <vt:lpstr>Visites d’intérêt (1) </vt:lpstr>
      <vt:lpstr>Visites d’intérêt (2) </vt:lpstr>
      <vt:lpstr>Sortir pour prendre un pot à La Havane</vt:lpstr>
      <vt:lpstr>Sortir pour aller danser à La Havane (matinée/soirée)</vt:lpstr>
      <vt:lpstr>Sortir pour aller dîner à La Havane</vt:lpstr>
      <vt:lpstr>Pour leur faire (énormément) plaisir !…</vt:lpstr>
      <vt:lpstr>Pour se faire (modéremment) plaisir !…</vt:lpstr>
      <vt:lpstr>Présentation PowerPoint</vt:lpstr>
      <vt:lpstr>Présentation PowerPoint</vt:lpstr>
      <vt:lpstr>Budget : 3 500 € (22 jours / 21 nuits)</vt:lpstr>
      <vt:lpstr>Benchmarking</vt:lpstr>
      <vt:lpstr>Suivi Budget</vt:lpstr>
      <vt:lpstr>Prochaine réunion</vt:lpstr>
      <vt:lpstr>Prochaine réunion</vt:lpstr>
      <vt:lpstr>Vidéo « Cuba Auténtica » !</vt:lpstr>
      <vt:lpstr> </vt:lpstr>
    </vt:vector>
  </TitlesOfParts>
  <Company>Total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Pense-bête !</dc:title>
  <dc:creator>fr14440</dc:creator>
  <cp:lastModifiedBy>Patrick</cp:lastModifiedBy>
  <cp:revision>1384</cp:revision>
  <cp:lastPrinted>1601-01-01T00:00:00Z</cp:lastPrinted>
  <dcterms:created xsi:type="dcterms:W3CDTF">2006-01-21T13:22:20Z</dcterms:created>
  <dcterms:modified xsi:type="dcterms:W3CDTF">2025-09-25T17:50:56Z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ContentType">
    <vt:lpwstr>CT_Geode_Standard</vt:lpwstr>
  </property>
  <property fmtid="{D5CDD505-2E9C-101B-9397-08002B2CF9AE}" pid="4" name="GeodeValidityEnd">
    <vt:lpwstr/>
  </property>
  <property fmtid="{D5CDD505-2E9C-101B-9397-08002B2CF9AE}" pid="5" name="GeodeComments">
    <vt:lpwstr/>
  </property>
  <property fmtid="{D5CDD505-2E9C-101B-9397-08002B2CF9AE}" pid="6" name="GeodeReceiver">
    <vt:lpwstr/>
  </property>
  <property fmtid="{D5CDD505-2E9C-101B-9397-08002B2CF9AE}" pid="7" name="GeodeCompany">
    <vt:lpwstr/>
  </property>
  <property fmtid="{D5CDD505-2E9C-101B-9397-08002B2CF9AE}" pid="8" name="GeodeReference">
    <vt:lpwstr/>
  </property>
  <property fmtid="{D5CDD505-2E9C-101B-9397-08002B2CF9AE}" pid="9" name="GeodeAuthor">
    <vt:lpwstr/>
  </property>
  <property fmtid="{D5CDD505-2E9C-101B-9397-08002B2CF9AE}" pid="10" name="GeodeSentApprovalDate">
    <vt:lpwstr/>
  </property>
  <property fmtid="{D5CDD505-2E9C-101B-9397-08002B2CF9AE}" pid="11" name="GeodePCDDestructionDate">
    <vt:lpwstr/>
  </property>
  <property fmtid="{D5CDD505-2E9C-101B-9397-08002B2CF9AE}" pid="12" name="GeodeValidityBegin">
    <vt:lpwstr/>
  </property>
  <property fmtid="{D5CDD505-2E9C-101B-9397-08002B2CF9AE}" pid="13" name="GeodeDestroyedDate">
    <vt:lpwstr/>
  </property>
  <property fmtid="{D5CDD505-2E9C-101B-9397-08002B2CF9AE}" pid="14" name="GeodeApprovalDate">
    <vt:lpwstr/>
  </property>
  <property fmtid="{D5CDD505-2E9C-101B-9397-08002B2CF9AE}" pid="15" name="GeodeArchivingDate">
    <vt:lpwstr/>
  </property>
  <property fmtid="{D5CDD505-2E9C-101B-9397-08002B2CF9AE}" pid="16" name="GeodeOrigin">
    <vt:lpwstr/>
  </property>
  <property fmtid="{D5CDD505-2E9C-101B-9397-08002B2CF9AE}" pid="17" name="_dlc_DocId">
    <vt:lpwstr>AJE7TDPM75FU-4-1153</vt:lpwstr>
  </property>
  <property fmtid="{D5CDD505-2E9C-101B-9397-08002B2CF9AE}" pid="18" name="_dlc_DocIdItemGuid">
    <vt:lpwstr>8b9eb49e-6017-425d-a046-13e1ee473024</vt:lpwstr>
  </property>
  <property fmtid="{D5CDD505-2E9C-101B-9397-08002B2CF9AE}" pid="19" name="_dlc_DocIdUrl">
    <vt:lpwstr>http://geode-mysite.ep.corp.local/personal/J0022427/_layouts/DocIdRedir.aspx?ID=AJE7TDPM75FU-4-1153, AJE7TDPM75FU-4-1153</vt:lpwstr>
  </property>
  <property fmtid="{D5CDD505-2E9C-101B-9397-08002B2CF9AE}" pid="20" name="display_urn:schemas-microsoft-com:office:office#Editor">
    <vt:lpwstr>Patrick DAROQUE</vt:lpwstr>
  </property>
  <property fmtid="{D5CDD505-2E9C-101B-9397-08002B2CF9AE}" pid="21" name="display_urn:schemas-microsoft-com:office:office#Author">
    <vt:lpwstr>Patrick DAROQUE</vt:lpwstr>
  </property>
  <property fmtid="{D5CDD505-2E9C-101B-9397-08002B2CF9AE}" pid="22" name="GeodePeriodTaxHTField0">
    <vt:lpwstr/>
  </property>
  <property fmtid="{D5CDD505-2E9C-101B-9397-08002B2CF9AE}" pid="23" name="GeodeTranslation">
    <vt:lpwstr>0</vt:lpwstr>
  </property>
  <property fmtid="{D5CDD505-2E9C-101B-9397-08002B2CF9AE}" pid="24" name="GeodeThemeTaxHTField0">
    <vt:lpwstr/>
  </property>
  <property fmtid="{D5CDD505-2E9C-101B-9397-08002B2CF9AE}" pid="25" name="GeodeDocumentTypeTaxHTField0">
    <vt:lpwstr/>
  </property>
  <property fmtid="{D5CDD505-2E9C-101B-9397-08002B2CF9AE}" pid="26" name="GeodeManagedEntityTaxHTField0">
    <vt:lpwstr/>
  </property>
  <property fmtid="{D5CDD505-2E9C-101B-9397-08002B2CF9AE}" pid="27" name="GeodeSpecialityTaxHTField0">
    <vt:lpwstr/>
  </property>
  <property fmtid="{D5CDD505-2E9C-101B-9397-08002B2CF9AE}" pid="28" name="GeodeSentEntityTaxHTField0">
    <vt:lpwstr/>
  </property>
  <property fmtid="{D5CDD505-2E9C-101B-9397-08002B2CF9AE}" pid="29" name="TaxCatchAll">
    <vt:lpwstr/>
  </property>
  <property fmtid="{D5CDD505-2E9C-101B-9397-08002B2CF9AE}" pid="30" name="GeodeArchivingSpaceTaxHTField0">
    <vt:lpwstr/>
  </property>
  <property fmtid="{D5CDD505-2E9C-101B-9397-08002B2CF9AE}" pid="31" name="GeodeVersion">
    <vt:lpwstr>1</vt:lpwstr>
  </property>
  <property fmtid="{D5CDD505-2E9C-101B-9397-08002B2CF9AE}" pid="32" name="GeodeGeographyTaxHTField0">
    <vt:lpwstr/>
  </property>
  <property fmtid="{D5CDD505-2E9C-101B-9397-08002B2CF9AE}" pid="33" name="GeodeLanguageTaxHTField0">
    <vt:lpwstr/>
  </property>
  <property fmtid="{D5CDD505-2E9C-101B-9397-08002B2CF9AE}" pid="34" name="GeodePeriod">
    <vt:lpwstr/>
  </property>
  <property fmtid="{D5CDD505-2E9C-101B-9397-08002B2CF9AE}" pid="35" name="GeodeGeography">
    <vt:lpwstr/>
  </property>
  <property fmtid="{D5CDD505-2E9C-101B-9397-08002B2CF9AE}" pid="36" name="GeodeTheme">
    <vt:lpwstr/>
  </property>
</Properties>
</file>